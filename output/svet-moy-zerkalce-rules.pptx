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432000"/>
            <a:ext cx="6696000" cy="504000"/>
          </a:xfrm>
          <a:prstGeom prst="rect">
            <a:avLst/>
          </a:prstGeom>
          <a:noFill/>
        </p:spPr>
        <p:txBody>
          <a:bodyPr wrap="square" anchor="t" lIns="0" rIns="0" tIns="0" bIns="0">
            <a:spAutoFit/>
          </a:bodyPr>
          <a:lstStyle/>
          <a:p>
            <a:r>
              <a:rPr sz="1800" b="1" i="0">
                <a:solidFill>
                  <a:srgbClr val="1A1A1A"/>
                </a:solidFill>
                <a:latin typeface="Arial"/>
              </a:rPr>
              <a:t>Свет мой зеркальце. Правила игры</a:t>
            </a:r>
          </a:p>
        </p:txBody>
      </p:sp>
      <p:sp>
        <p:nvSpPr>
          <p:cNvPr id="3" name="TextBox 2"/>
          <p:cNvSpPr txBox="1"/>
          <p:nvPr/>
        </p:nvSpPr>
        <p:spPr>
          <a:xfrm>
            <a:off x="432000" y="972000"/>
            <a:ext cx="6696000" cy="578879"/>
          </a:xfrm>
          <a:prstGeom prst="rect">
            <a:avLst/>
          </a:prstGeom>
          <a:noFill/>
        </p:spPr>
        <p:txBody>
          <a:bodyPr wrap="square" anchor="t" lIns="0" rIns="0" tIns="0" bIns="0">
            <a:spAutoFit/>
          </a:bodyPr>
          <a:lstStyle/>
          <a:p>
            <a:pPr>
              <a:spcBef>
                <a:spcPts val="0"/>
              </a:spcBef>
              <a:spcAft>
                <a:spcPts val="200"/>
              </a:spcAft>
            </a:pPr>
            <a:r>
              <a:rPr sz="1200" b="0" i="0">
                <a:solidFill>
                  <a:srgbClr val="1A1A1A"/>
                </a:solidFill>
                <a:latin typeface="Arial"/>
              </a:rPr>
              <a:t>3–6 игроков  ·  от 16 лет  ·  около 30 минут</a:t>
            </a:r>
          </a:p>
          <a:p>
            <a:pPr>
              <a:spcBef>
                <a:spcPts val="0"/>
              </a:spcBef>
              <a:spcAft>
                <a:spcPts val="200"/>
              </a:spcAft>
            </a:pPr>
            <a:r>
              <a:rPr sz="1200" b="0" i="0">
                <a:solidFill>
                  <a:srgbClr val="1A1A1A"/>
                </a:solidFill>
                <a:latin typeface="Arial"/>
              </a:rPr>
              <a:t>Версия правил 3.8</a:t>
            </a:r>
          </a:p>
        </p:txBody>
      </p:sp>
      <p:sp>
        <p:nvSpPr>
          <p:cNvPr id="4" name="TextBox 3"/>
          <p:cNvSpPr txBox="1"/>
          <p:nvPr/>
        </p:nvSpPr>
        <p:spPr>
          <a:xfrm>
            <a:off x="432000" y="1586880"/>
            <a:ext cx="6696000" cy="310320"/>
          </a:xfrm>
          <a:prstGeom prst="rect">
            <a:avLst/>
          </a:prstGeom>
          <a:noFill/>
        </p:spPr>
        <p:txBody>
          <a:bodyPr wrap="square" anchor="t" lIns="0" rIns="0" tIns="0" bIns="0">
            <a:spAutoFit/>
          </a:bodyPr>
          <a:lstStyle/>
          <a:p>
            <a:pPr>
              <a:spcBef>
                <a:spcPts val="0"/>
              </a:spcBef>
              <a:spcAft>
                <a:spcPts val="200"/>
              </a:spcAft>
            </a:pPr>
            <a:r>
              <a:rPr sz="1100" b="0" i="1">
                <a:solidFill>
                  <a:srgbClr val="1A1A1A"/>
                </a:solidFill>
                <a:latin typeface="Arial"/>
              </a:rPr>
              <a:t>Вы – гремлины службы поддержки волшебного сервиса «Свет мой зеркальце скажи». Клиенты из почти современного мира задают через зеркало странные вопросы, а вы на лету собираете ответы из карт букв, которые берёте из общей кучи в центре стола. Чем смешнее и точнее реакция зала – тем выше шанс забрать карту запроса себе. Побеждает тот, у кого к концу колоды запросов больше всего таких карт.</a:t>
            </a:r>
          </a:p>
        </p:txBody>
      </p:sp>
      <p:sp>
        <p:nvSpPr>
          <p:cNvPr id="5" name="TextBox 4"/>
          <p:cNvSpPr txBox="1"/>
          <p:nvPr/>
        </p:nvSpPr>
        <p:spPr>
          <a:xfrm>
            <a:off x="432000" y="1933200"/>
            <a:ext cx="6696000" cy="288000"/>
          </a:xfrm>
          <a:prstGeom prst="rect">
            <a:avLst/>
          </a:prstGeom>
          <a:noFill/>
        </p:spPr>
        <p:txBody>
          <a:bodyPr wrap="square" anchor="t" lIns="0" rIns="0" tIns="0" bIns="0">
            <a:spAutoFit/>
          </a:bodyPr>
          <a:lstStyle/>
          <a:p>
            <a:r>
              <a:rPr sz="1200" b="1" i="0">
                <a:solidFill>
                  <a:srgbClr val="2E5A88"/>
                </a:solidFill>
                <a:latin typeface="Arial"/>
              </a:rPr>
              <a:t>КОМПЛЕКТАЦИЯ</a:t>
            </a:r>
          </a:p>
        </p:txBody>
      </p:sp>
      <p:pic>
        <p:nvPicPr>
          <p:cNvPr id="6" name="Picture 5" descr="card-request-duplex.png"/>
          <p:cNvPicPr>
            <a:picLocks noChangeAspect="1"/>
          </p:cNvPicPr>
          <p:nvPr/>
        </p:nvPicPr>
        <p:blipFill>
          <a:blip r:embed="rId2"/>
          <a:stretch>
            <a:fillRect/>
          </a:stretch>
        </p:blipFill>
        <p:spPr>
          <a:xfrm>
            <a:off x="417588" y="2857601"/>
            <a:ext cx="2267799" cy="724278"/>
          </a:xfrm>
          <a:prstGeom prst="rect">
            <a:avLst/>
          </a:prstGeom>
        </p:spPr>
      </p:pic>
      <p:sp>
        <p:nvSpPr>
          <p:cNvPr id="7" name="TextBox 6"/>
          <p:cNvSpPr txBox="1"/>
          <p:nvPr/>
        </p:nvSpPr>
        <p:spPr>
          <a:xfrm>
            <a:off x="417588" y="3596279"/>
            <a:ext cx="2267799" cy="504000"/>
          </a:xfrm>
          <a:prstGeom prst="rect">
            <a:avLst/>
          </a:prstGeom>
          <a:noFill/>
        </p:spPr>
        <p:txBody>
          <a:bodyPr wrap="square" anchor="t" lIns="0" rIns="0" tIns="0" bIns="0">
            <a:spAutoFit/>
          </a:bodyPr>
          <a:lstStyle/>
          <a:p>
            <a:pPr algn="ctr"/>
            <a:r>
              <a:rPr sz="800" b="0" i="0">
                <a:solidFill>
                  <a:srgbClr val="555555"/>
                </a:solidFill>
                <a:latin typeface="Arial"/>
              </a:rPr>
              <a:t>карты запросов – 14 шт. (лицевая сторона и рубашка)</a:t>
            </a:r>
          </a:p>
        </p:txBody>
      </p:sp>
      <p:pic>
        <p:nvPicPr>
          <p:cNvPr id="8" name="Picture 7" descr="card-letter-duplex.png"/>
          <p:cNvPicPr>
            <a:picLocks noChangeAspect="1"/>
          </p:cNvPicPr>
          <p:nvPr/>
        </p:nvPicPr>
        <p:blipFill>
          <a:blip r:embed="rId3"/>
          <a:stretch>
            <a:fillRect/>
          </a:stretch>
        </p:blipFill>
        <p:spPr>
          <a:xfrm>
            <a:off x="2829388" y="2423004"/>
            <a:ext cx="2267799" cy="1158875"/>
          </a:xfrm>
          <a:prstGeom prst="rect">
            <a:avLst/>
          </a:prstGeom>
        </p:spPr>
      </p:pic>
      <p:sp>
        <p:nvSpPr>
          <p:cNvPr id="9" name="TextBox 8"/>
          <p:cNvSpPr txBox="1"/>
          <p:nvPr/>
        </p:nvSpPr>
        <p:spPr>
          <a:xfrm>
            <a:off x="2829388" y="3596279"/>
            <a:ext cx="2267799" cy="504000"/>
          </a:xfrm>
          <a:prstGeom prst="rect">
            <a:avLst/>
          </a:prstGeom>
          <a:noFill/>
        </p:spPr>
        <p:txBody>
          <a:bodyPr wrap="square" anchor="t" lIns="0" rIns="0" tIns="0" bIns="0">
            <a:spAutoFit/>
          </a:bodyPr>
          <a:lstStyle/>
          <a:p>
            <a:pPr algn="ctr"/>
            <a:r>
              <a:rPr sz="800" b="0" i="0">
                <a:solidFill>
                  <a:srgbClr val="555555"/>
                </a:solidFill>
                <a:latin typeface="Arial"/>
              </a:rPr>
              <a:t>карты букв – 72 шт. (рубашка – джокер)</a:t>
            </a:r>
          </a:p>
        </p:txBody>
      </p:sp>
      <p:pic>
        <p:nvPicPr>
          <p:cNvPr id="10" name="Picture 9" descr="card-vote-stack.png"/>
          <p:cNvPicPr>
            <a:picLocks noChangeAspect="1"/>
          </p:cNvPicPr>
          <p:nvPr/>
        </p:nvPicPr>
        <p:blipFill>
          <a:blip r:embed="rId4"/>
          <a:stretch>
            <a:fillRect/>
          </a:stretch>
        </p:blipFill>
        <p:spPr>
          <a:xfrm>
            <a:off x="5241187" y="2221200"/>
            <a:ext cx="1901223" cy="1360679"/>
          </a:xfrm>
          <a:prstGeom prst="rect">
            <a:avLst/>
          </a:prstGeom>
        </p:spPr>
      </p:pic>
      <p:sp>
        <p:nvSpPr>
          <p:cNvPr id="11" name="TextBox 10"/>
          <p:cNvSpPr txBox="1"/>
          <p:nvPr/>
        </p:nvSpPr>
        <p:spPr>
          <a:xfrm>
            <a:off x="5241187" y="3596279"/>
            <a:ext cx="1901223" cy="504000"/>
          </a:xfrm>
          <a:prstGeom prst="rect">
            <a:avLst/>
          </a:prstGeom>
          <a:noFill/>
        </p:spPr>
        <p:txBody>
          <a:bodyPr wrap="square" anchor="t" lIns="0" rIns="0" tIns="0" bIns="0">
            <a:spAutoFit/>
          </a:bodyPr>
          <a:lstStyle/>
          <a:p>
            <a:pPr algn="ctr"/>
            <a:r>
              <a:rPr sz="800" b="0" i="0">
                <a:solidFill>
                  <a:srgbClr val="555555"/>
                </a:solidFill>
                <a:latin typeface="Arial"/>
              </a:rPr>
              <a:t>карты «Ты восхитителен» – 6 шт. (по 1 каждого цвета)</a:t>
            </a:r>
          </a:p>
        </p:txBody>
      </p:sp>
      <p:sp>
        <p:nvSpPr>
          <p:cNvPr id="12" name="TextBox 11"/>
          <p:cNvSpPr txBox="1"/>
          <p:nvPr/>
        </p:nvSpPr>
        <p:spPr>
          <a:xfrm>
            <a:off x="432000" y="4157879"/>
            <a:ext cx="6696000" cy="2952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Элементы, которых нет в PnP, но которые нужны для партии: поверхность стола, достаточная чтобы раскидать карты букв и кидать карты «Ты восхитителен» к игрокам.</a:t>
            </a:r>
          </a:p>
        </p:txBody>
      </p:sp>
      <p:sp>
        <p:nvSpPr>
          <p:cNvPr id="13" name="TextBox 12"/>
          <p:cNvSpPr txBox="1"/>
          <p:nvPr/>
        </p:nvSpPr>
        <p:spPr>
          <a:xfrm>
            <a:off x="432000" y="4489079"/>
            <a:ext cx="6696000" cy="288000"/>
          </a:xfrm>
          <a:prstGeom prst="rect">
            <a:avLst/>
          </a:prstGeom>
          <a:noFill/>
        </p:spPr>
        <p:txBody>
          <a:bodyPr wrap="square" anchor="t" lIns="0" rIns="0" tIns="0" bIns="0">
            <a:spAutoFit/>
          </a:bodyPr>
          <a:lstStyle/>
          <a:p>
            <a:r>
              <a:rPr sz="1200" b="1" i="0">
                <a:solidFill>
                  <a:srgbClr val="2E5A88"/>
                </a:solidFill>
                <a:latin typeface="Arial"/>
              </a:rPr>
              <a:t>ПОДГОТОВКА К ИГРЕ</a:t>
            </a:r>
          </a:p>
        </p:txBody>
      </p:sp>
      <p:sp>
        <p:nvSpPr>
          <p:cNvPr id="14" name="TextBox 13"/>
          <p:cNvSpPr txBox="1"/>
          <p:nvPr/>
        </p:nvSpPr>
        <p:spPr>
          <a:xfrm>
            <a:off x="432000" y="4777079"/>
            <a:ext cx="6696000" cy="78696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1. Перемешайте колоду карт запросов и положите её рубашками вверх. Верхняя карта колоды запросов показывает окончание будущего запроса на своей рубашке.</a:t>
            </a:r>
          </a:p>
          <a:p>
            <a:pPr>
              <a:spcBef>
                <a:spcPts val="0"/>
              </a:spcBef>
              <a:spcAft>
                <a:spcPts val="200"/>
              </a:spcAft>
            </a:pPr>
            <a:r>
              <a:rPr sz="1100" b="0" i="0">
                <a:solidFill>
                  <a:srgbClr val="1A1A1A"/>
                </a:solidFill>
                <a:latin typeface="Arial"/>
              </a:rPr>
              <a:t>2. Каждый игрок выбирает цвет и берёт карту «Ты восхитителен» своего цвета. Лишние карты «Ты восхитителен» уберите в коробку.</a:t>
            </a:r>
          </a:p>
          <a:p>
            <a:pPr>
              <a:spcBef>
                <a:spcPts val="0"/>
              </a:spcBef>
              <a:spcAft>
                <a:spcPts val="200"/>
              </a:spcAft>
            </a:pPr>
            <a:r>
              <a:rPr sz="1100" b="0" i="0">
                <a:solidFill>
                  <a:srgbClr val="1A1A1A"/>
                </a:solidFill>
                <a:latin typeface="Arial"/>
              </a:rPr>
              <a:t>3. Все карты букв раскиньте в случайном порядке лицом вверх в центре стола. Руки игроков в начале раунда пустые.</a:t>
            </a:r>
          </a:p>
        </p:txBody>
      </p:sp>
      <p:pic>
        <p:nvPicPr>
          <p:cNvPr id="15" name="Picture 14" descr="setup-table.png"/>
          <p:cNvPicPr>
            <a:picLocks noChangeAspect="1"/>
          </p:cNvPicPr>
          <p:nvPr/>
        </p:nvPicPr>
        <p:blipFill>
          <a:blip r:embed="rId5"/>
          <a:stretch>
            <a:fillRect/>
          </a:stretch>
        </p:blipFill>
        <p:spPr>
          <a:xfrm>
            <a:off x="432000" y="5600039"/>
            <a:ext cx="6696000" cy="435197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432000"/>
            <a:ext cx="6696000" cy="288000"/>
          </a:xfrm>
          <a:prstGeom prst="rect">
            <a:avLst/>
          </a:prstGeom>
          <a:noFill/>
        </p:spPr>
        <p:txBody>
          <a:bodyPr wrap="square" anchor="t" lIns="0" rIns="0" tIns="0" bIns="0">
            <a:spAutoFit/>
          </a:bodyPr>
          <a:lstStyle/>
          <a:p>
            <a:r>
              <a:rPr sz="1200" b="1" i="0">
                <a:solidFill>
                  <a:srgbClr val="2E5A88"/>
                </a:solidFill>
                <a:latin typeface="Arial"/>
              </a:rPr>
              <a:t>ЦЕЛЬ ИГРЫ</a:t>
            </a:r>
          </a:p>
        </p:txBody>
      </p:sp>
      <p:sp>
        <p:nvSpPr>
          <p:cNvPr id="3" name="TextBox 2"/>
          <p:cNvSpPr txBox="1"/>
          <p:nvPr/>
        </p:nvSpPr>
        <p:spPr>
          <a:xfrm>
            <a:off x="432000" y="720000"/>
            <a:ext cx="6696000" cy="31032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Набирайте карты запросов как победные очки. Когда колода запросов больше не позволяет начать раунд, побеждает игрок с наибольшим числом таких карт.</a:t>
            </a:r>
          </a:p>
        </p:txBody>
      </p:sp>
      <p:sp>
        <p:nvSpPr>
          <p:cNvPr id="4" name="TextBox 3"/>
          <p:cNvSpPr txBox="1"/>
          <p:nvPr/>
        </p:nvSpPr>
        <p:spPr>
          <a:xfrm>
            <a:off x="432000" y="1066320"/>
            <a:ext cx="6696000" cy="288000"/>
          </a:xfrm>
          <a:prstGeom prst="rect">
            <a:avLst/>
          </a:prstGeom>
          <a:noFill/>
        </p:spPr>
        <p:txBody>
          <a:bodyPr wrap="square" anchor="t" lIns="0" rIns="0" tIns="0" bIns="0">
            <a:spAutoFit/>
          </a:bodyPr>
          <a:lstStyle/>
          <a:p>
            <a:r>
              <a:rPr sz="1200" b="1" i="0">
                <a:solidFill>
                  <a:srgbClr val="2E5A88"/>
                </a:solidFill>
                <a:latin typeface="Arial"/>
              </a:rPr>
              <a:t>КАК УСТРОЕНА КАРТА ЗАПРОСА</a:t>
            </a:r>
          </a:p>
        </p:txBody>
      </p:sp>
      <p:sp>
        <p:nvSpPr>
          <p:cNvPr id="5" name="TextBox 4"/>
          <p:cNvSpPr txBox="1"/>
          <p:nvPr/>
        </p:nvSpPr>
        <p:spPr>
          <a:xfrm>
            <a:off x="432000" y="1354320"/>
            <a:ext cx="4644000" cy="2744519"/>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У каждой карты запроса две стороны.</a:t>
            </a:r>
          </a:p>
          <a:p>
            <a:pPr>
              <a:spcBef>
                <a:spcPts val="0"/>
              </a:spcBef>
              <a:spcAft>
                <a:spcPts val="200"/>
              </a:spcAft>
            </a:pPr>
            <a:r>
              <a:rPr sz="1000" b="0" i="0">
                <a:solidFill>
                  <a:srgbClr val="1A1A1A"/>
                </a:solidFill>
                <a:latin typeface="Arial"/>
              </a:rPr>
              <a:t>1. Лицевая сторона – начало фразы-запроса.</a:t>
            </a:r>
          </a:p>
          <a:p>
            <a:pPr>
              <a:spcBef>
                <a:spcPts val="0"/>
              </a:spcBef>
              <a:spcAft>
                <a:spcPts val="200"/>
              </a:spcAft>
            </a:pPr>
            <a:r>
              <a:rPr sz="1000" b="0" i="0">
                <a:solidFill>
                  <a:srgbClr val="1A1A1A"/>
                </a:solidFill>
                <a:latin typeface="Arial"/>
              </a:rPr>
              <a:t>2. Рубашка – окончание фразы-запроса.</a:t>
            </a:r>
          </a:p>
          <a:p>
            <a:pPr>
              <a:spcBef>
                <a:spcPts val="0"/>
              </a:spcBef>
              <a:spcAft>
                <a:spcPts val="200"/>
              </a:spcAft>
            </a:pPr>
            <a:r>
              <a:rPr sz="1000" b="0" i="0">
                <a:solidFill>
                  <a:srgbClr val="1A1A1A"/>
                </a:solidFill>
                <a:latin typeface="Arial"/>
              </a:rPr>
              <a:t>Рамка зеркала на всех картах запросов одинаковая: при любой перетасовке лицевая сторона одной карты запроса и рубашка следующей сверху карты в колоде всегда складываются в одно изображение зеркала с целым текстом запроса.</a:t>
            </a:r>
          </a:p>
          <a:p>
            <a:pPr>
              <a:spcBef>
                <a:spcPts val="0"/>
              </a:spcBef>
              <a:spcAft>
                <a:spcPts val="200"/>
              </a:spcAft>
            </a:pPr>
            <a:r>
              <a:rPr sz="1000" b="0" i="0">
                <a:solidFill>
                  <a:srgbClr val="1A1A1A"/>
                </a:solidFill>
                <a:latin typeface="Arial"/>
              </a:rPr>
              <a:t>Читаете вслух, например: «Расскажи чем испугать всех соседей сверху».</a:t>
            </a:r>
          </a:p>
        </p:txBody>
      </p:sp>
      <p:pic>
        <p:nvPicPr>
          <p:cNvPr id="6" name="Picture 5" descr="card-request-pair.png"/>
          <p:cNvPicPr>
            <a:picLocks noChangeAspect="1"/>
          </p:cNvPicPr>
          <p:nvPr/>
        </p:nvPicPr>
        <p:blipFill>
          <a:blip r:embed="rId2"/>
          <a:stretch>
            <a:fillRect/>
          </a:stretch>
        </p:blipFill>
        <p:spPr>
          <a:xfrm>
            <a:off x="5256000" y="1354320"/>
            <a:ext cx="1872000" cy="2744519"/>
          </a:xfrm>
          <a:prstGeom prst="rect">
            <a:avLst/>
          </a:prstGeom>
        </p:spPr>
      </p:pic>
      <p:sp>
        <p:nvSpPr>
          <p:cNvPr id="7" name="TextBox 6"/>
          <p:cNvSpPr txBox="1"/>
          <p:nvPr/>
        </p:nvSpPr>
        <p:spPr>
          <a:xfrm>
            <a:off x="5256000" y="4109639"/>
            <a:ext cx="1872000" cy="288000"/>
          </a:xfrm>
          <a:prstGeom prst="rect">
            <a:avLst/>
          </a:prstGeom>
          <a:noFill/>
        </p:spPr>
        <p:txBody>
          <a:bodyPr wrap="square" anchor="t" lIns="0" rIns="0" tIns="0" bIns="0">
            <a:spAutoFit/>
          </a:bodyPr>
          <a:lstStyle/>
          <a:p>
            <a:pPr algn="ctr"/>
            <a:r>
              <a:rPr sz="800" b="0" i="0">
                <a:solidFill>
                  <a:srgbClr val="555555"/>
                </a:solidFill>
                <a:latin typeface="Arial"/>
              </a:rPr>
              <a:t>лицевая сторона сверху, рубашка снизу</a:t>
            </a:r>
          </a:p>
        </p:txBody>
      </p:sp>
      <p:sp>
        <p:nvSpPr>
          <p:cNvPr id="8" name="TextBox 7"/>
          <p:cNvSpPr txBox="1"/>
          <p:nvPr/>
        </p:nvSpPr>
        <p:spPr>
          <a:xfrm>
            <a:off x="432000" y="4458839"/>
            <a:ext cx="6696000" cy="288000"/>
          </a:xfrm>
          <a:prstGeom prst="rect">
            <a:avLst/>
          </a:prstGeom>
          <a:noFill/>
        </p:spPr>
        <p:txBody>
          <a:bodyPr wrap="square" anchor="t" lIns="0" rIns="0" tIns="0" bIns="0">
            <a:spAutoFit/>
          </a:bodyPr>
          <a:lstStyle/>
          <a:p>
            <a:r>
              <a:rPr sz="1200" b="1" i="0">
                <a:solidFill>
                  <a:srgbClr val="2E5A88"/>
                </a:solidFill>
                <a:latin typeface="Arial"/>
              </a:rPr>
              <a:t>ХОД ИГРЫ</a:t>
            </a:r>
          </a:p>
        </p:txBody>
      </p:sp>
      <p:sp>
        <p:nvSpPr>
          <p:cNvPr id="9" name="TextBox 8"/>
          <p:cNvSpPr txBox="1"/>
          <p:nvPr/>
        </p:nvSpPr>
        <p:spPr>
          <a:xfrm>
            <a:off x="432000" y="4746839"/>
            <a:ext cx="6696000" cy="31032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Игра идёт раундами. Все действия в раунде выполняются одновременно.</a:t>
            </a:r>
          </a:p>
        </p:txBody>
      </p:sp>
      <p:sp>
        <p:nvSpPr>
          <p:cNvPr id="10" name="Rounded Rectangle 9"/>
          <p:cNvSpPr/>
          <p:nvPr/>
        </p:nvSpPr>
        <p:spPr>
          <a:xfrm>
            <a:off x="432000" y="5093159"/>
            <a:ext cx="1566000" cy="792000"/>
          </a:xfrm>
          <a:prstGeom prst="roundRect">
            <a:avLst/>
          </a:prstGeom>
          <a:solidFill>
            <a:srgbClr val="EEF2F7"/>
          </a:solidFill>
          <a:ln w="9525">
            <a:solidFill>
              <a:srgbClr val="9090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A1A1A"/>
                </a:solidFill>
                <a:latin typeface="Arial"/>
              </a:rPr>
              <a:t>1. Открытие запроса</a:t>
            </a:r>
          </a:p>
        </p:txBody>
      </p:sp>
      <p:sp>
        <p:nvSpPr>
          <p:cNvPr id="11" name="Rounded Rectangle 10"/>
          <p:cNvSpPr/>
          <p:nvPr/>
        </p:nvSpPr>
        <p:spPr>
          <a:xfrm>
            <a:off x="2142000" y="5093159"/>
            <a:ext cx="1566000" cy="792000"/>
          </a:xfrm>
          <a:prstGeom prst="roundRect">
            <a:avLst/>
          </a:prstGeom>
          <a:solidFill>
            <a:srgbClr val="EEF2F7"/>
          </a:solidFill>
          <a:ln w="9525">
            <a:solidFill>
              <a:srgbClr val="9090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A1A1A"/>
                </a:solidFill>
                <a:latin typeface="Arial"/>
              </a:rPr>
              <a:t>2. Составление ответа</a:t>
            </a:r>
          </a:p>
        </p:txBody>
      </p:sp>
      <p:sp>
        <p:nvSpPr>
          <p:cNvPr id="12" name="Rounded Rectangle 11"/>
          <p:cNvSpPr/>
          <p:nvPr/>
        </p:nvSpPr>
        <p:spPr>
          <a:xfrm>
            <a:off x="3852000" y="5093159"/>
            <a:ext cx="1566000" cy="792000"/>
          </a:xfrm>
          <a:prstGeom prst="roundRect">
            <a:avLst/>
          </a:prstGeom>
          <a:solidFill>
            <a:srgbClr val="EEF2F7"/>
          </a:solidFill>
          <a:ln w="9525">
            <a:solidFill>
              <a:srgbClr val="9090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A1A1A"/>
                </a:solidFill>
                <a:latin typeface="Arial"/>
              </a:rPr>
              <a:t>3. Голосование</a:t>
            </a:r>
          </a:p>
        </p:txBody>
      </p:sp>
      <p:sp>
        <p:nvSpPr>
          <p:cNvPr id="13" name="Rounded Rectangle 12"/>
          <p:cNvSpPr/>
          <p:nvPr/>
        </p:nvSpPr>
        <p:spPr>
          <a:xfrm>
            <a:off x="5562000" y="5093159"/>
            <a:ext cx="1566000" cy="792000"/>
          </a:xfrm>
          <a:prstGeom prst="roundRect">
            <a:avLst/>
          </a:prstGeom>
          <a:solidFill>
            <a:srgbClr val="EEF2F7"/>
          </a:solidFill>
          <a:ln w="9525">
            <a:solidFill>
              <a:srgbClr val="9090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A1A1A"/>
                </a:solidFill>
                <a:latin typeface="Arial"/>
              </a:rPr>
              <a:t>4. Возврат букв</a:t>
            </a:r>
          </a:p>
        </p:txBody>
      </p:sp>
      <p:sp>
        <p:nvSpPr>
          <p:cNvPr id="14" name="TextBox 13"/>
          <p:cNvSpPr txBox="1"/>
          <p:nvPr/>
        </p:nvSpPr>
        <p:spPr>
          <a:xfrm>
            <a:off x="432000" y="5993159"/>
            <a:ext cx="6696000" cy="18576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1. Снимите верхнюю карту колоды запросов, переверните её на лицевую сторону и положите рядом с колодой так, чтобы вместе с новой верхней картой колоды запросов (с её рубашкой) получилось общее зеркало.</a:t>
            </a:r>
          </a:p>
          <a:p>
            <a:pPr>
              <a:spcBef>
                <a:spcPts val="0"/>
              </a:spcBef>
              <a:spcAft>
                <a:spcPts val="200"/>
              </a:spcAft>
            </a:pPr>
            <a:r>
              <a:rPr sz="1000" b="0" i="0">
                <a:solidFill>
                  <a:srgbClr val="1A1A1A"/>
                </a:solidFill>
                <a:latin typeface="Arial"/>
              </a:rPr>
              <a:t>Прочитайте вслух текст на лицевой стороне открытой карты запроса и на рубашке верхней карты запроса.</a:t>
            </a:r>
          </a:p>
          <a:p>
            <a:pPr>
              <a:spcBef>
                <a:spcPts val="0"/>
              </a:spcBef>
              <a:spcAft>
                <a:spcPts val="200"/>
              </a:spcAft>
            </a:pPr>
            <a:r>
              <a:rPr sz="1000" b="0" i="0">
                <a:solidFill>
                  <a:srgbClr val="1A1A1A"/>
                </a:solidFill>
                <a:latin typeface="Arial"/>
              </a:rPr>
              <a:t>Если карты кончились, наступает конец игры.</a:t>
            </a:r>
          </a:p>
          <a:p>
            <a:pPr>
              <a:spcBef>
                <a:spcPts val="0"/>
              </a:spcBef>
              <a:spcAft>
                <a:spcPts val="200"/>
              </a:spcAft>
            </a:pPr>
            <a:r>
              <a:rPr sz="1000" b="0" i="0">
                <a:solidFill>
                  <a:srgbClr val="1A1A1A"/>
                </a:solidFill>
                <a:latin typeface="Arial"/>
              </a:rPr>
              <a:t>2. Игроки одновременно берут карты букв из центра стола одной рукой по одной карте. Второй рукой можно держать взятое, но не копаться в куче.</a:t>
            </a:r>
          </a:p>
          <a:p>
            <a:pPr>
              <a:spcBef>
                <a:spcPts val="0"/>
              </a:spcBef>
              <a:spcAft>
                <a:spcPts val="200"/>
              </a:spcAft>
            </a:pPr>
            <a:r>
              <a:rPr sz="1000" b="0" i="0">
                <a:solidFill>
                  <a:srgbClr val="1A1A1A"/>
                </a:solidFill>
                <a:latin typeface="Arial"/>
              </a:rPr>
              <a:t>Выложите от 1 до 3 карт букв: первые или самые характерные буквы слова или выражения. Слово или выражение назовите вслух. Лишние карты букв остаются в центре стола.</a:t>
            </a:r>
          </a:p>
          <a:p>
            <a:pPr>
              <a:spcBef>
                <a:spcPts val="0"/>
              </a:spcBef>
              <a:spcAft>
                <a:spcPts val="200"/>
              </a:spcAft>
            </a:pPr>
            <a:r>
              <a:rPr sz="1000" b="0" i="0">
                <a:solidFill>
                  <a:srgbClr val="1A1A1A"/>
                </a:solidFill>
                <a:latin typeface="Arial"/>
              </a:rPr>
              <a:t>Любую карту буквы можно сыграть рубашкой вверх как джокер (любая буква). Замену вслух не называйте.</a:t>
            </a:r>
          </a:p>
          <a:p>
            <a:pPr>
              <a:spcBef>
                <a:spcPts val="0"/>
              </a:spcBef>
              <a:spcAft>
                <a:spcPts val="200"/>
              </a:spcAft>
            </a:pPr>
            <a:r>
              <a:rPr sz="1000" b="0" i="0">
                <a:solidFill>
                  <a:srgbClr val="1A1A1A"/>
                </a:solidFill>
                <a:latin typeface="Arial"/>
              </a:rPr>
              <a:t>3. Голосование – см. ниже.</a:t>
            </a:r>
          </a:p>
          <a:p>
            <a:pPr>
              <a:spcBef>
                <a:spcPts val="0"/>
              </a:spcBef>
              <a:spcAft>
                <a:spcPts val="200"/>
              </a:spcAft>
            </a:pPr>
            <a:r>
              <a:rPr sz="1000" b="0" i="0">
                <a:solidFill>
                  <a:srgbClr val="1A1A1A"/>
                </a:solidFill>
                <a:latin typeface="Arial"/>
              </a:rPr>
              <a:t>4. Все карты букв возвращаются в центр стола, перемешиваются и снова раскидываются лицом вверх.</a:t>
            </a:r>
          </a:p>
        </p:txBody>
      </p:sp>
      <p:sp>
        <p:nvSpPr>
          <p:cNvPr id="15" name="TextBox 14"/>
          <p:cNvSpPr txBox="1"/>
          <p:nvPr/>
        </p:nvSpPr>
        <p:spPr>
          <a:xfrm>
            <a:off x="432000" y="7886759"/>
            <a:ext cx="6696000" cy="288000"/>
          </a:xfrm>
          <a:prstGeom prst="rect">
            <a:avLst/>
          </a:prstGeom>
          <a:noFill/>
        </p:spPr>
        <p:txBody>
          <a:bodyPr wrap="square" anchor="t" lIns="0" rIns="0" tIns="0" bIns="0">
            <a:spAutoFit/>
          </a:bodyPr>
          <a:lstStyle/>
          <a:p>
            <a:r>
              <a:rPr sz="1200" b="1" i="0">
                <a:solidFill>
                  <a:srgbClr val="2E5A88"/>
                </a:solidFill>
                <a:latin typeface="Arial"/>
              </a:rPr>
              <a:t>СОСТАВЛЕНИЕ ОТВЕТА</a:t>
            </a:r>
          </a:p>
        </p:txBody>
      </p:sp>
      <p:sp>
        <p:nvSpPr>
          <p:cNvPr id="16" name="TextBox 15"/>
          <p:cNvSpPr txBox="1"/>
          <p:nvPr/>
        </p:nvSpPr>
        <p:spPr>
          <a:xfrm>
            <a:off x="2844000" y="8174759"/>
            <a:ext cx="4284000" cy="1140581"/>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Ответ – от 1 до 3 карт букв: первые или самые характерные буквы слова или выражения. Слово или выражение назовите вслух. Допустимы несуществующие и неполные слова.</a:t>
            </a:r>
          </a:p>
          <a:p>
            <a:pPr>
              <a:spcBef>
                <a:spcPts val="0"/>
              </a:spcBef>
              <a:spcAft>
                <a:spcPts val="200"/>
              </a:spcAft>
            </a:pPr>
            <a:r>
              <a:rPr sz="1000" b="0" i="0">
                <a:solidFill>
                  <a:srgbClr val="1A1A1A"/>
                </a:solidFill>
                <a:latin typeface="Arial"/>
              </a:rPr>
              <a:t>Несыгранные взятые карты букв остаются у игрока до конца раунда.</a:t>
            </a:r>
          </a:p>
          <a:p>
            <a:pPr>
              <a:spcBef>
                <a:spcPts val="0"/>
              </a:spcBef>
              <a:spcAft>
                <a:spcPts val="200"/>
              </a:spcAft>
            </a:pPr>
            <a:r>
              <a:rPr sz="1000" b="0" i="0">
                <a:solidFill>
                  <a:srgbClr val="1A1A1A"/>
                </a:solidFill>
                <a:latin typeface="Arial"/>
              </a:rPr>
              <a:t>Игрок выкладывает свой ответ перед собой на стол, когда готов.</a:t>
            </a:r>
          </a:p>
        </p:txBody>
      </p:sp>
      <p:pic>
        <p:nvPicPr>
          <p:cNvPr id="17" name="Picture 16" descr="card-letter-duplex.png"/>
          <p:cNvPicPr>
            <a:picLocks noChangeAspect="1"/>
          </p:cNvPicPr>
          <p:nvPr/>
        </p:nvPicPr>
        <p:blipFill>
          <a:blip r:embed="rId3"/>
          <a:stretch>
            <a:fillRect/>
          </a:stretch>
        </p:blipFill>
        <p:spPr>
          <a:xfrm>
            <a:off x="432000" y="8174759"/>
            <a:ext cx="2232000" cy="1140581"/>
          </a:xfrm>
          <a:prstGeom prst="rect">
            <a:avLst/>
          </a:prstGeom>
        </p:spPr>
      </p:pic>
      <p:sp>
        <p:nvSpPr>
          <p:cNvPr id="18" name="TextBox 17"/>
          <p:cNvSpPr txBox="1"/>
          <p:nvPr/>
        </p:nvSpPr>
        <p:spPr>
          <a:xfrm>
            <a:off x="432000" y="9326140"/>
            <a:ext cx="2232000" cy="288000"/>
          </a:xfrm>
          <a:prstGeom prst="rect">
            <a:avLst/>
          </a:prstGeom>
          <a:noFill/>
        </p:spPr>
        <p:txBody>
          <a:bodyPr wrap="square" anchor="t" lIns="0" rIns="0" tIns="0" bIns="0">
            <a:spAutoFit/>
          </a:bodyPr>
          <a:lstStyle/>
          <a:p>
            <a:pPr algn="ctr"/>
            <a:r>
              <a:rPr sz="800" b="0" i="0">
                <a:solidFill>
                  <a:srgbClr val="555555"/>
                </a:solidFill>
                <a:latin typeface="Arial"/>
              </a:rPr>
              <a:t>карты букв: лицо и рубашка-джокер</a:t>
            </a:r>
          </a:p>
        </p:txBody>
      </p:sp>
      <p:sp>
        <p:nvSpPr>
          <p:cNvPr id="19" name="TextBox 18"/>
          <p:cNvSpPr txBox="1"/>
          <p:nvPr/>
        </p:nvSpPr>
        <p:spPr>
          <a:xfrm>
            <a:off x="432000" y="9675340"/>
            <a:ext cx="6696000" cy="310320"/>
          </a:xfrm>
          <a:prstGeom prst="rect">
            <a:avLst/>
          </a:prstGeom>
          <a:noFill/>
        </p:spPr>
        <p:txBody>
          <a:bodyPr wrap="square" anchor="t" lIns="0" rIns="0" tIns="0" bIns="0">
            <a:spAutoFit/>
          </a:bodyPr>
          <a:lstStyle/>
          <a:p>
            <a:pPr>
              <a:spcBef>
                <a:spcPts val="0"/>
              </a:spcBef>
              <a:spcAft>
                <a:spcPts val="200"/>
              </a:spcAft>
            </a:pPr>
            <a:r>
              <a:rPr sz="1100" b="0" i="1">
                <a:solidFill>
                  <a:srgbClr val="1A1A1A"/>
                </a:solidFill>
                <a:latin typeface="Arial"/>
              </a:rPr>
              <a:t>Пример: запрос «Чем соблазнить милф». Настя выложила Б и Т и назвала «без трусов» (позже получит 3 голоса), Артём выложил П и Д и назвал «в подъезде» (1 голос), Кирилл выложил М, А и Д и назвал «мамин друг» (0 голосов).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432000"/>
            <a:ext cx="6696000" cy="288000"/>
          </a:xfrm>
          <a:prstGeom prst="rect">
            <a:avLst/>
          </a:prstGeom>
          <a:noFill/>
        </p:spPr>
        <p:txBody>
          <a:bodyPr wrap="square" anchor="t" lIns="0" rIns="0" tIns="0" bIns="0">
            <a:spAutoFit/>
          </a:bodyPr>
          <a:lstStyle/>
          <a:p>
            <a:r>
              <a:rPr sz="1200" b="1" i="0">
                <a:solidFill>
                  <a:srgbClr val="2E5A88"/>
                </a:solidFill>
                <a:latin typeface="Arial"/>
              </a:rPr>
              <a:t>ГОЛОСОВАНИЕ</a:t>
            </a:r>
          </a:p>
        </p:txBody>
      </p:sp>
      <p:sp>
        <p:nvSpPr>
          <p:cNvPr id="3" name="TextBox 2"/>
          <p:cNvSpPr txBox="1"/>
          <p:nvPr/>
        </p:nvSpPr>
        <p:spPr>
          <a:xfrm>
            <a:off x="432000" y="720000"/>
            <a:ext cx="4788000" cy="14544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Каждый игрок берёт в руку карту голосования. Когда все определились с выбором, то по команде одновременно кидают на понравившееся слово (если очень хочется – можно в составившего его игрока). Если неясно, к кому упала – кинувший поясняет.</a:t>
            </a:r>
          </a:p>
          <a:p>
            <a:pPr>
              <a:spcBef>
                <a:spcPts val="0"/>
              </a:spcBef>
              <a:spcAft>
                <a:spcPts val="200"/>
              </a:spcAft>
            </a:pPr>
            <a:r>
              <a:rPr sz="1000" b="0" i="0">
                <a:solidFill>
                  <a:srgbClr val="1A1A1A"/>
                </a:solidFill>
                <a:latin typeface="Arial"/>
              </a:rPr>
              <a:t>Себе карту голосования оставлять нельзя: кидайте только к чужому ответу.</a:t>
            </a:r>
          </a:p>
          <a:p>
            <a:pPr>
              <a:spcBef>
                <a:spcPts val="0"/>
              </a:spcBef>
              <a:spcAft>
                <a:spcPts val="200"/>
              </a:spcAft>
            </a:pPr>
            <a:r>
              <a:rPr sz="1000" b="0" i="0">
                <a:solidFill>
                  <a:srgbClr val="1A1A1A"/>
                </a:solidFill>
                <a:latin typeface="Arial"/>
              </a:rPr>
              <a:t>Если игрок не успел кинуть карту голосования вместе с остальными, его карта не учитывается, а каждый другой игрок получает по 2 голоса.</a:t>
            </a:r>
          </a:p>
          <a:p>
            <a:pPr>
              <a:spcBef>
                <a:spcPts val="0"/>
              </a:spcBef>
              <a:spcAft>
                <a:spcPts val="200"/>
              </a:spcAft>
            </a:pPr>
            <a:r>
              <a:rPr sz="1000" b="0" i="0">
                <a:solidFill>
                  <a:srgbClr val="1A1A1A"/>
                </a:solidFill>
                <a:latin typeface="Arial"/>
              </a:rPr>
              <a:t>Победитель раунда – игрок, перед которым оказалось больше всего карт голосования. Он берёт карту запроса, лежащую лицевой стороной вверх, и кладёт её перед собой как победное очко.</a:t>
            </a:r>
          </a:p>
          <a:p>
            <a:pPr>
              <a:spcBef>
                <a:spcPts val="0"/>
              </a:spcBef>
              <a:spcAft>
                <a:spcPts val="200"/>
              </a:spcAft>
            </a:pPr>
            <a:r>
              <a:rPr sz="1000" b="0" i="0">
                <a:solidFill>
                  <a:srgbClr val="1A1A1A"/>
                </a:solidFill>
                <a:latin typeface="Arial"/>
              </a:rPr>
              <a:t>Ничья по голосам. Если лидеров несколько, все они объявляются победителями раунда. Один из них берёт лицевую карту запроса, остальные по очереди (по часовой стрелке от обладателя лицевой карты запроса или по договорённости) берут по одной карте с верха колоды запросов как победные очки. Часть будущих запросов при этом выбывает – так и задумано.</a:t>
            </a:r>
          </a:p>
          <a:p>
            <a:pPr>
              <a:spcBef>
                <a:spcPts val="0"/>
              </a:spcBef>
              <a:spcAft>
                <a:spcPts val="200"/>
              </a:spcAft>
            </a:pPr>
            <a:r>
              <a:rPr sz="1000" b="0" i="0">
                <a:solidFill>
                  <a:srgbClr val="1A1A1A"/>
                </a:solidFill>
                <a:latin typeface="Arial"/>
              </a:rPr>
              <a:t>После определения победителя или победителей верните карты «Ты восхитителен» владельцам в руку – они снова понадобятся в следующем раунде.</a:t>
            </a:r>
          </a:p>
        </p:txBody>
      </p:sp>
      <p:pic>
        <p:nvPicPr>
          <p:cNvPr id="4" name="Picture 3" descr="card-vote-stack.png"/>
          <p:cNvPicPr>
            <a:picLocks noChangeAspect="1"/>
          </p:cNvPicPr>
          <p:nvPr/>
        </p:nvPicPr>
        <p:blipFill>
          <a:blip r:embed="rId2"/>
          <a:stretch>
            <a:fillRect/>
          </a:stretch>
        </p:blipFill>
        <p:spPr>
          <a:xfrm>
            <a:off x="5400000" y="720000"/>
            <a:ext cx="1728000" cy="1236706"/>
          </a:xfrm>
          <a:prstGeom prst="rect">
            <a:avLst/>
          </a:prstGeom>
        </p:spPr>
      </p:pic>
      <p:sp>
        <p:nvSpPr>
          <p:cNvPr id="5" name="TextBox 4"/>
          <p:cNvSpPr txBox="1"/>
          <p:nvPr/>
        </p:nvSpPr>
        <p:spPr>
          <a:xfrm>
            <a:off x="5400000" y="1967505"/>
            <a:ext cx="1728000" cy="288000"/>
          </a:xfrm>
          <a:prstGeom prst="rect">
            <a:avLst/>
          </a:prstGeom>
          <a:noFill/>
        </p:spPr>
        <p:txBody>
          <a:bodyPr wrap="square" anchor="t" lIns="0" rIns="0" tIns="0" bIns="0">
            <a:spAutoFit/>
          </a:bodyPr>
          <a:lstStyle/>
          <a:p>
            <a:pPr algn="ctr"/>
            <a:r>
              <a:rPr sz="800" b="0" i="0">
                <a:solidFill>
                  <a:srgbClr val="555555"/>
                </a:solidFill>
                <a:latin typeface="Arial"/>
              </a:rPr>
              <a:t>карты голосования «Ты восхитителен»</a:t>
            </a:r>
          </a:p>
        </p:txBody>
      </p:sp>
      <p:sp>
        <p:nvSpPr>
          <p:cNvPr id="6" name="TextBox 5"/>
          <p:cNvSpPr txBox="1"/>
          <p:nvPr/>
        </p:nvSpPr>
        <p:spPr>
          <a:xfrm>
            <a:off x="432000" y="2316705"/>
            <a:ext cx="6696000" cy="288000"/>
          </a:xfrm>
          <a:prstGeom prst="rect">
            <a:avLst/>
          </a:prstGeom>
          <a:noFill/>
        </p:spPr>
        <p:txBody>
          <a:bodyPr wrap="square" anchor="t" lIns="0" rIns="0" tIns="0" bIns="0">
            <a:spAutoFit/>
          </a:bodyPr>
          <a:lstStyle/>
          <a:p>
            <a:r>
              <a:rPr sz="1200" b="1" i="0">
                <a:solidFill>
                  <a:srgbClr val="2E5A88"/>
                </a:solidFill>
                <a:latin typeface="Arial"/>
              </a:rPr>
              <a:t>КОНЕЦ ИГРЫ</a:t>
            </a:r>
          </a:p>
        </p:txBody>
      </p:sp>
      <p:sp>
        <p:nvSpPr>
          <p:cNvPr id="7" name="TextBox 6"/>
          <p:cNvSpPr txBox="1"/>
          <p:nvPr/>
        </p:nvSpPr>
        <p:spPr>
          <a:xfrm>
            <a:off x="432000" y="2604705"/>
            <a:ext cx="6696000" cy="102528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Игра заканчивается, когда колода запросов больше не позволяет начать раунд: карты кончились или осталась одна карта запроса без пары для зеркала.</a:t>
            </a:r>
          </a:p>
          <a:p>
            <a:pPr>
              <a:spcBef>
                <a:spcPts val="0"/>
              </a:spcBef>
              <a:spcAft>
                <a:spcPts val="200"/>
              </a:spcAft>
            </a:pPr>
            <a:r>
              <a:rPr sz="1100" b="0" i="0">
                <a:solidFill>
                  <a:srgbClr val="1A1A1A"/>
                </a:solidFill>
                <a:latin typeface="Arial"/>
              </a:rPr>
              <a:t>1. Каждый игрок считает карты запросов, лежащие перед ним как победные очки.</a:t>
            </a:r>
          </a:p>
          <a:p>
            <a:pPr>
              <a:spcBef>
                <a:spcPts val="0"/>
              </a:spcBef>
              <a:spcAft>
                <a:spcPts val="200"/>
              </a:spcAft>
            </a:pPr>
            <a:r>
              <a:rPr sz="1100" b="0" i="0">
                <a:solidFill>
                  <a:srgbClr val="1A1A1A"/>
                </a:solidFill>
                <a:latin typeface="Arial"/>
              </a:rPr>
              <a:t>2. Побеждает игрок с наибольшим числом таких карт.</a:t>
            </a:r>
          </a:p>
          <a:p>
            <a:pPr>
              <a:spcBef>
                <a:spcPts val="0"/>
              </a:spcBef>
              <a:spcAft>
                <a:spcPts val="200"/>
              </a:spcAft>
            </a:pPr>
            <a:r>
              <a:rPr sz="1100" b="0" i="0">
                <a:solidFill>
                  <a:srgbClr val="1A1A1A"/>
                </a:solidFill>
                <a:latin typeface="Arial"/>
              </a:rPr>
              <a:t>При ничьей объявите совместную победу.</a:t>
            </a:r>
          </a:p>
        </p:txBody>
      </p:sp>
      <p:sp>
        <p:nvSpPr>
          <p:cNvPr id="8" name="TextBox 7"/>
          <p:cNvSpPr txBox="1"/>
          <p:nvPr/>
        </p:nvSpPr>
        <p:spPr>
          <a:xfrm>
            <a:off x="432000" y="3665985"/>
            <a:ext cx="6696000" cy="288000"/>
          </a:xfrm>
          <a:prstGeom prst="rect">
            <a:avLst/>
          </a:prstGeom>
          <a:noFill/>
        </p:spPr>
        <p:txBody>
          <a:bodyPr wrap="square" anchor="t" lIns="0" rIns="0" tIns="0" bIns="0">
            <a:spAutoFit/>
          </a:bodyPr>
          <a:lstStyle/>
          <a:p>
            <a:r>
              <a:rPr sz="1200" b="1" i="0">
                <a:solidFill>
                  <a:srgbClr val="2E5A88"/>
                </a:solidFill>
                <a:latin typeface="Arial"/>
              </a:rPr>
              <a:t>ЧАСТЫЕ ВОПРОСЫ</a:t>
            </a:r>
          </a:p>
        </p:txBody>
      </p:sp>
      <p:sp>
        <p:nvSpPr>
          <p:cNvPr id="9" name="TextBox 8"/>
          <p:cNvSpPr txBox="1"/>
          <p:nvPr/>
        </p:nvSpPr>
        <p:spPr>
          <a:xfrm>
            <a:off x="432000" y="3953985"/>
            <a:ext cx="6696000" cy="11880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 Можно ли кинуть карту голосования себе?  Нет. Только к чужому ответу.</a:t>
            </a:r>
          </a:p>
          <a:p>
            <a:pPr>
              <a:spcBef>
                <a:spcPts val="0"/>
              </a:spcBef>
              <a:spcAft>
                <a:spcPts val="200"/>
              </a:spcAft>
            </a:pPr>
            <a:r>
              <a:rPr sz="1000" b="0" i="0">
                <a:solidFill>
                  <a:srgbClr val="1A1A1A"/>
                </a:solidFill>
                <a:latin typeface="Arial"/>
              </a:rPr>
              <a:t>? Карта голосования упала между двумя игроками – чей это голос?  Кинувший поясняет.</a:t>
            </a:r>
          </a:p>
          <a:p>
            <a:pPr>
              <a:spcBef>
                <a:spcPts val="0"/>
              </a:spcBef>
              <a:spcAft>
                <a:spcPts val="200"/>
              </a:spcAft>
            </a:pPr>
            <a:r>
              <a:rPr sz="1000" b="0" i="0">
                <a:solidFill>
                  <a:srgbClr val="1A1A1A"/>
                </a:solidFill>
                <a:latin typeface="Arial"/>
              </a:rPr>
              <a:t>? Можно ли копаться в разложенных картах букв?  Нет. Берите только сверху или с края кучи, одной рукой по одной карте. Второй рукой можно держать взятое, но не копаться в куче.</a:t>
            </a:r>
          </a:p>
          <a:p>
            <a:pPr>
              <a:spcBef>
                <a:spcPts val="0"/>
              </a:spcBef>
              <a:spcAft>
                <a:spcPts val="200"/>
              </a:spcAft>
            </a:pPr>
            <a:r>
              <a:rPr sz="1000" b="0" i="0">
                <a:solidFill>
                  <a:srgbClr val="1A1A1A"/>
                </a:solidFill>
                <a:latin typeface="Arial"/>
              </a:rPr>
              <a:t>? Сколько карт букв выкладывать в ответ?  От 1 до 3: первые или самые характерные буквы слова или выражения. Слово или выражение назовите вслух.</a:t>
            </a:r>
          </a:p>
          <a:p>
            <a:pPr>
              <a:spcBef>
                <a:spcPts val="0"/>
              </a:spcBef>
              <a:spcAft>
                <a:spcPts val="200"/>
              </a:spcAft>
            </a:pPr>
            <a:r>
              <a:rPr sz="1000" b="0" i="0">
                <a:solidFill>
                  <a:srgbClr val="1A1A1A"/>
                </a:solidFill>
                <a:latin typeface="Arial"/>
              </a:rPr>
              <a:t>? Сколько джокеров можно сыграть?  Сколько угодно. Зал реже голосует за нечитаемый ответ.</a:t>
            </a:r>
          </a:p>
        </p:txBody>
      </p:sp>
      <p:sp>
        <p:nvSpPr>
          <p:cNvPr id="10" name="TextBox 9"/>
          <p:cNvSpPr txBox="1"/>
          <p:nvPr/>
        </p:nvSpPr>
        <p:spPr>
          <a:xfrm>
            <a:off x="432000" y="5177985"/>
            <a:ext cx="6696000" cy="288000"/>
          </a:xfrm>
          <a:prstGeom prst="rect">
            <a:avLst/>
          </a:prstGeom>
          <a:noFill/>
        </p:spPr>
        <p:txBody>
          <a:bodyPr wrap="square" anchor="t" lIns="0" rIns="0" tIns="0" bIns="0">
            <a:spAutoFit/>
          </a:bodyPr>
          <a:lstStyle/>
          <a:p>
            <a:r>
              <a:rPr sz="1200" b="1" i="0">
                <a:solidFill>
                  <a:srgbClr val="2E5A88"/>
                </a:solidFill>
                <a:latin typeface="Arial"/>
              </a:rPr>
              <a:t>СОЗДАТЕЛИ</a:t>
            </a:r>
          </a:p>
        </p:txBody>
      </p:sp>
      <p:sp>
        <p:nvSpPr>
          <p:cNvPr id="11" name="TextBox 10"/>
          <p:cNvSpPr txBox="1"/>
          <p:nvPr/>
        </p:nvSpPr>
        <p:spPr>
          <a:xfrm>
            <a:off x="432000" y="5465985"/>
            <a:ext cx="6696000" cy="7416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Автор: Юрий Ямщиков</a:t>
            </a:r>
          </a:p>
          <a:p>
            <a:pPr>
              <a:spcBef>
                <a:spcPts val="0"/>
              </a:spcBef>
              <a:spcAft>
                <a:spcPts val="200"/>
              </a:spcAft>
            </a:pPr>
            <a:r>
              <a:rPr sz="1000" b="0" i="0">
                <a:solidFill>
                  <a:srgbClr val="1A1A1A"/>
                </a:solidFill>
                <a:latin typeface="Arial"/>
              </a:rPr>
              <a:t>Редакция / развитие: [плейсхолдер]</a:t>
            </a:r>
          </a:p>
          <a:p>
            <a:pPr>
              <a:spcBef>
                <a:spcPts val="0"/>
              </a:spcBef>
              <a:spcAft>
                <a:spcPts val="200"/>
              </a:spcAft>
            </a:pPr>
            <a:r>
              <a:rPr sz="1000" b="0" i="0">
                <a:solidFill>
                  <a:srgbClr val="1A1A1A"/>
                </a:solidFill>
                <a:latin typeface="Arial"/>
              </a:rPr>
              <a:t>Версия правил 3.8</a:t>
            </a:r>
          </a:p>
        </p:txBody>
      </p:sp>
      <p:sp>
        <p:nvSpPr>
          <p:cNvPr id="12" name="TextBox 11"/>
          <p:cNvSpPr txBox="1"/>
          <p:nvPr/>
        </p:nvSpPr>
        <p:spPr>
          <a:xfrm>
            <a:off x="432000" y="6243585"/>
            <a:ext cx="6696000" cy="288000"/>
          </a:xfrm>
          <a:prstGeom prst="rect">
            <a:avLst/>
          </a:prstGeom>
          <a:noFill/>
        </p:spPr>
        <p:txBody>
          <a:bodyPr wrap="square" anchor="t" lIns="0" rIns="0" tIns="0" bIns="0">
            <a:spAutoFit/>
          </a:bodyPr>
          <a:lstStyle/>
          <a:p>
            <a:r>
              <a:rPr sz="1200" b="1" i="0">
                <a:solidFill>
                  <a:srgbClr val="2E5A88"/>
                </a:solidFill>
                <a:latin typeface="Arial"/>
              </a:rPr>
              <a:t>ПАМЯТКА РАУНДА</a:t>
            </a:r>
          </a:p>
        </p:txBody>
      </p:sp>
      <p:sp>
        <p:nvSpPr>
          <p:cNvPr id="13" name="TextBox 12"/>
          <p:cNvSpPr txBox="1"/>
          <p:nvPr/>
        </p:nvSpPr>
        <p:spPr>
          <a:xfrm>
            <a:off x="432000" y="6531585"/>
            <a:ext cx="6696000" cy="102528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1. Открыть карту запроса: снять верхнюю карту колоды запросов, перевернуть на лицевую сторону, прочитать текст на лицевой стороне открытой карты запроса и на рубашке верхней карты запроса.</a:t>
            </a:r>
          </a:p>
          <a:p>
            <a:pPr>
              <a:spcBef>
                <a:spcPts val="0"/>
              </a:spcBef>
              <a:spcAft>
                <a:spcPts val="200"/>
              </a:spcAft>
            </a:pPr>
            <a:r>
              <a:rPr sz="1100" b="0" i="0">
                <a:solidFill>
                  <a:srgbClr val="1A1A1A"/>
                </a:solidFill>
                <a:latin typeface="Arial"/>
              </a:rPr>
              <a:t>2. Взять от 1 до 3 карт букв (одна рука, по одной карте), выложить их и назвать слово или выражение.</a:t>
            </a:r>
          </a:p>
          <a:p>
            <a:pPr>
              <a:spcBef>
                <a:spcPts val="0"/>
              </a:spcBef>
              <a:spcAft>
                <a:spcPts val="200"/>
              </a:spcAft>
            </a:pPr>
            <a:r>
              <a:rPr sz="1100" b="0" i="0">
                <a:solidFill>
                  <a:srgbClr val="1A1A1A"/>
                </a:solidFill>
                <a:latin typeface="Arial"/>
              </a:rPr>
              <a:t>3. Кинуть карту голосования на понравившееся слово.</a:t>
            </a:r>
          </a:p>
          <a:p>
            <a:pPr>
              <a:spcBef>
                <a:spcPts val="0"/>
              </a:spcBef>
              <a:spcAft>
                <a:spcPts val="200"/>
              </a:spcAft>
            </a:pPr>
            <a:r>
              <a:rPr sz="1100" b="0" i="0">
                <a:solidFill>
                  <a:srgbClr val="1A1A1A"/>
                </a:solidFill>
                <a:latin typeface="Arial"/>
              </a:rPr>
              <a:t>4. Все карты букв вернуть в центр стола, перемешать и раскидать лицом вверх.</a:t>
            </a:r>
          </a:p>
        </p:txBody>
      </p:sp>
      <p:sp>
        <p:nvSpPr>
          <p:cNvPr id="14" name="TextBox 13"/>
          <p:cNvSpPr txBox="1"/>
          <p:nvPr/>
        </p:nvSpPr>
        <p:spPr>
          <a:xfrm>
            <a:off x="432000" y="7592865"/>
            <a:ext cx="6696000" cy="310320"/>
          </a:xfrm>
          <a:prstGeom prst="rect">
            <a:avLst/>
          </a:prstGeom>
          <a:noFill/>
        </p:spPr>
        <p:txBody>
          <a:bodyPr wrap="square" anchor="t" lIns="0" rIns="0" tIns="0" bIns="0">
            <a:spAutoFit/>
          </a:bodyPr>
          <a:lstStyle/>
          <a:p>
            <a:pPr>
              <a:spcBef>
                <a:spcPts val="0"/>
              </a:spcBef>
              <a:spcAft>
                <a:spcPts val="200"/>
              </a:spcAft>
            </a:pPr>
            <a:r>
              <a:rPr sz="1100" b="0" i="0">
                <a:solidFill>
                  <a:srgbClr val="1A1A1A"/>
                </a:solidFill>
                <a:latin typeface="Arial"/>
              </a:rPr>
              <a:t>После раунда все карты букв снова лежат в центре стола лицом вверх.</a:t>
            </a:r>
          </a:p>
        </p:txBody>
      </p:sp>
      <p:pic>
        <p:nvPicPr>
          <p:cNvPr id="15" name="Picture 14" descr="setup-table.png"/>
          <p:cNvPicPr>
            <a:picLocks noChangeAspect="1"/>
          </p:cNvPicPr>
          <p:nvPr/>
        </p:nvPicPr>
        <p:blipFill>
          <a:blip r:embed="rId3"/>
          <a:stretch>
            <a:fillRect/>
          </a:stretch>
        </p:blipFill>
        <p:spPr>
          <a:xfrm>
            <a:off x="1994758" y="7939185"/>
            <a:ext cx="3570483" cy="232058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432000"/>
            <a:ext cx="6696000" cy="288000"/>
          </a:xfrm>
          <a:prstGeom prst="rect">
            <a:avLst/>
          </a:prstGeom>
          <a:noFill/>
        </p:spPr>
        <p:txBody>
          <a:bodyPr wrap="square" anchor="t" lIns="0" rIns="0" tIns="0" bIns="0">
            <a:spAutoFit/>
          </a:bodyPr>
          <a:lstStyle/>
          <a:p>
            <a:r>
              <a:rPr sz="1200" b="1" i="0">
                <a:solidFill>
                  <a:srgbClr val="2E5A88"/>
                </a:solidFill>
                <a:latin typeface="Arial"/>
              </a:rPr>
              <a:t>КОНТАКТЫ</a:t>
            </a:r>
          </a:p>
        </p:txBody>
      </p:sp>
      <p:sp>
        <p:nvSpPr>
          <p:cNvPr id="3" name="TextBox 2"/>
          <p:cNvSpPr txBox="1"/>
          <p:nvPr/>
        </p:nvSpPr>
        <p:spPr>
          <a:xfrm>
            <a:off x="432000" y="720000"/>
            <a:ext cx="6696000" cy="295200"/>
          </a:xfrm>
          <a:prstGeom prst="rect">
            <a:avLst/>
          </a:prstGeom>
          <a:noFill/>
        </p:spPr>
        <p:txBody>
          <a:bodyPr wrap="square" anchor="t" lIns="0" rIns="0" tIns="0" bIns="0">
            <a:spAutoFit/>
          </a:bodyPr>
          <a:lstStyle/>
          <a:p>
            <a:pPr>
              <a:spcBef>
                <a:spcPts val="0"/>
              </a:spcBef>
              <a:spcAft>
                <a:spcPts val="200"/>
              </a:spcAft>
            </a:pPr>
            <a:r>
              <a:rPr sz="1000" b="0" i="0">
                <a:solidFill>
                  <a:srgbClr val="1A1A1A"/>
                </a:solidFill>
                <a:latin typeface="Arial"/>
              </a:rPr>
              <a:t>Контакты автора: t.me/tanion, vk.ru/tanion, yury@nxt.ru, +79213189331 (не стесняйтесь звонить / писать при возникновении вопросов)</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