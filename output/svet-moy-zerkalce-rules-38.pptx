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Lst>
  <p:sldSz cx="7559675" cy="10691813"/>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&lt;дата/время&gt;</a:t>
            </a:r>
            <a:endParaRPr lang="ru-RU"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ru-RU" sz="1400" b="0" u="none" strike="noStrike">
                <a:solidFill>
                  <a:srgbClr val="000000"/>
                </a:solidFill>
                <a:effectLst/>
                <a:uFillTx/>
                <a:latin typeface="Times New Roman"/>
              </a:defRPr>
            </a:lvl1pPr>
          </a:lstStyle>
          <a:p>
            <a:pPr indent="0" algn="ctr">
              <a:buNone/>
            </a:pPr>
            <a:r>
              <a:rPr lang="ru-RU" sz="1400" b="0" u="none" strike="noStrike">
                <a:solidFill>
                  <a:srgbClr val="000000"/>
                </a:solidFill>
                <a:effectLst/>
                <a:uFillTx/>
                <a:latin typeface="Times New Roman"/>
              </a:rPr>
              <a:t>&lt;нижний колонтитул&gt;</a:t>
            </a:r>
            <a:endParaRPr lang="ru-RU"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1DCC69F-49B2-47B8-9E79-86838A422D73}" type="slidenum">
              <a:rPr lang="en-US" sz="1200" b="0" u="none" strike="noStrike">
                <a:solidFill>
                  <a:schemeClr val="dk1">
                    <a:tint val="75000"/>
                  </a:schemeClr>
                </a:solidFill>
                <a:effectLst/>
                <a:uFillTx/>
                <a:latin typeface="Calibri"/>
              </a:rPr>
              <a:t>&lt;номер&gt;</a:t>
            </a:fld>
            <a:endParaRPr lang="ru-RU"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&lt;дата/время&gt;</a:t>
            </a:r>
            <a:endParaRPr lang="ru-RU"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ru-RU" sz="1400" b="0" u="none" strike="noStrike">
                <a:solidFill>
                  <a:srgbClr val="000000"/>
                </a:solidFill>
                <a:effectLst/>
                <a:uFillTx/>
                <a:latin typeface="Times New Roman"/>
              </a:defRPr>
            </a:lvl1pPr>
          </a:lstStyle>
          <a:p>
            <a:pPr indent="0" algn="ctr">
              <a:buNone/>
            </a:pPr>
            <a:r>
              <a:rPr lang="ru-RU" sz="1400" b="0" u="none" strike="noStrike">
                <a:solidFill>
                  <a:srgbClr val="000000"/>
                </a:solidFill>
                <a:effectLst/>
                <a:uFillTx/>
                <a:latin typeface="Times New Roman"/>
              </a:rPr>
              <a:t>&lt;нижний колонтитул&gt;</a:t>
            </a:r>
            <a:endParaRPr lang="ru-RU"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D81069E-D4A8-4C25-9FF8-BC1163F6FA80}" type="slidenum">
              <a:rPr lang="en-US" sz="1200" b="0" u="none" strike="noStrike">
                <a:solidFill>
                  <a:schemeClr val="dk1">
                    <a:tint val="75000"/>
                  </a:schemeClr>
                </a:solidFill>
                <a:effectLst/>
                <a:uFillTx/>
                <a:latin typeface="Calibri"/>
              </a:rPr>
              <a:t>&lt;номер&gt;</a:t>
            </a:fld>
            <a:endParaRPr lang="ru-RU"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&lt;дата/время&gt;</a:t>
            </a:r>
            <a:endParaRPr lang="ru-RU"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ru-RU" sz="1400" b="0" u="none" strike="noStrike">
                <a:solidFill>
                  <a:srgbClr val="000000"/>
                </a:solidFill>
                <a:effectLst/>
                <a:uFillTx/>
                <a:latin typeface="Times New Roman"/>
              </a:defRPr>
            </a:lvl1pPr>
          </a:lstStyle>
          <a:p>
            <a:pPr indent="0" algn="ctr">
              <a:buNone/>
            </a:pPr>
            <a:r>
              <a:rPr lang="ru-RU" sz="1400" b="0" u="none" strike="noStrike">
                <a:solidFill>
                  <a:srgbClr val="000000"/>
                </a:solidFill>
                <a:effectLst/>
                <a:uFillTx/>
                <a:latin typeface="Times New Roman"/>
              </a:rPr>
              <a:t>&lt;нижний колонтитул&gt;</a:t>
            </a:r>
            <a:endParaRPr lang="ru-RU"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B615476-4DAF-4934-A71E-1D64519897FE}" type="slidenum">
              <a:rPr lang="en-US" sz="1200" b="0" u="none" strike="noStrike">
                <a:solidFill>
                  <a:schemeClr val="dk1">
                    <a:tint val="75000"/>
                  </a:schemeClr>
                </a:solidFill>
                <a:effectLst/>
                <a:uFillTx/>
                <a:latin typeface="Calibri"/>
              </a:rPr>
              <a:t>&lt;номер&gt;</a:t>
            </a:fld>
            <a:endParaRPr lang="ru-RU"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&lt;дата/время&gt;</a:t>
            </a:r>
            <a:endParaRPr lang="ru-RU"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ru-RU" sz="1400" b="0" u="none" strike="noStrike">
                <a:solidFill>
                  <a:srgbClr val="000000"/>
                </a:solidFill>
                <a:effectLst/>
                <a:uFillTx/>
                <a:latin typeface="Times New Roman"/>
              </a:defRPr>
            </a:lvl1pPr>
          </a:lstStyle>
          <a:p>
            <a:pPr indent="0" algn="ctr">
              <a:buNone/>
            </a:pPr>
            <a:r>
              <a:rPr lang="ru-RU" sz="1400" b="0" u="none" strike="noStrike">
                <a:solidFill>
                  <a:srgbClr val="000000"/>
                </a:solidFill>
                <a:effectLst/>
                <a:uFillTx/>
                <a:latin typeface="Times New Roman"/>
              </a:rPr>
              <a:t>&lt;нижний колонтитул&gt;</a:t>
            </a:r>
            <a:endParaRPr lang="ru-RU"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667E190-2A9F-4DE0-A395-74DBACCBEC2C}" type="slidenum">
              <a:rPr lang="en-US" sz="1200" b="0" u="none" strike="noStrike">
                <a:solidFill>
                  <a:schemeClr val="dk1">
                    <a:tint val="75000"/>
                  </a:schemeClr>
                </a:solidFill>
                <a:effectLst/>
                <a:uFillTx/>
                <a:latin typeface="Calibri"/>
              </a:rPr>
              <a:t>&lt;номер&gt;</a:t>
            </a:fld>
            <a:endParaRPr lang="ru-RU"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&lt;дата/время&gt;</a:t>
            </a:r>
            <a:endParaRPr lang="ru-RU"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ru-RU" sz="1400" b="0" u="none" strike="noStrike">
                <a:solidFill>
                  <a:srgbClr val="000000"/>
                </a:solidFill>
                <a:effectLst/>
                <a:uFillTx/>
                <a:latin typeface="Times New Roman"/>
              </a:defRPr>
            </a:lvl1pPr>
          </a:lstStyle>
          <a:p>
            <a:pPr indent="0" algn="ctr">
              <a:buNone/>
            </a:pPr>
            <a:r>
              <a:rPr lang="ru-RU" sz="1400" b="0" u="none" strike="noStrike">
                <a:solidFill>
                  <a:srgbClr val="000000"/>
                </a:solidFill>
                <a:effectLst/>
                <a:uFillTx/>
                <a:latin typeface="Times New Roman"/>
              </a:rPr>
              <a:t>&lt;нижний колонтитул&gt;</a:t>
            </a:r>
            <a:endParaRPr lang="ru-RU"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D5661A4-0804-4971-B24B-3BE9E7778BD7}" type="slidenum">
              <a:rPr lang="en-US" sz="1200" b="0" u="none" strike="noStrike">
                <a:solidFill>
                  <a:schemeClr val="dk1">
                    <a:tint val="75000"/>
                  </a:schemeClr>
                </a:solidFill>
                <a:effectLst/>
                <a:uFillTx/>
                <a:latin typeface="Calibri"/>
              </a:rPr>
              <a:t>&lt;номер&gt;</a:t>
            </a:fld>
            <a:endParaRPr lang="ru-RU"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&lt;дата/время&gt;</a:t>
            </a:r>
            <a:endParaRPr lang="ru-RU"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ru-RU" sz="1400" b="0" u="none" strike="noStrike">
                <a:solidFill>
                  <a:srgbClr val="000000"/>
                </a:solidFill>
                <a:effectLst/>
                <a:uFillTx/>
                <a:latin typeface="Times New Roman"/>
              </a:defRPr>
            </a:lvl1pPr>
          </a:lstStyle>
          <a:p>
            <a:pPr indent="0" algn="ctr">
              <a:buNone/>
            </a:pPr>
            <a:r>
              <a:rPr lang="ru-RU" sz="1400" b="0" u="none" strike="noStrike">
                <a:solidFill>
                  <a:srgbClr val="000000"/>
                </a:solidFill>
                <a:effectLst/>
                <a:uFillTx/>
                <a:latin typeface="Times New Roman"/>
              </a:rPr>
              <a:t>&lt;нижний колонтитул&gt;</a:t>
            </a:r>
            <a:endParaRPr lang="ru-RU"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19528DD-6406-4070-BF52-97F2B0D35962}" type="slidenum">
              <a:rPr lang="en-US" sz="1200" b="0" u="none" strike="noStrike">
                <a:solidFill>
                  <a:schemeClr val="dk1">
                    <a:tint val="75000"/>
                  </a:schemeClr>
                </a:solidFill>
                <a:effectLst/>
                <a:uFillTx/>
                <a:latin typeface="Calibri"/>
              </a:rPr>
              <a:t>&lt;номер&gt;</a:t>
            </a:fld>
            <a:endParaRPr lang="ru-RU"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&lt;дата/время&gt;</a:t>
            </a:r>
            <a:endParaRPr lang="ru-RU"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ru-RU" sz="1400" b="0" u="none" strike="noStrike">
                <a:solidFill>
                  <a:srgbClr val="000000"/>
                </a:solidFill>
                <a:effectLst/>
                <a:uFillTx/>
                <a:latin typeface="Times New Roman"/>
              </a:defRPr>
            </a:lvl1pPr>
          </a:lstStyle>
          <a:p>
            <a:pPr indent="0" algn="ctr">
              <a:buNone/>
            </a:pPr>
            <a:r>
              <a:rPr lang="ru-RU" sz="1400" b="0" u="none" strike="noStrike">
                <a:solidFill>
                  <a:srgbClr val="000000"/>
                </a:solidFill>
                <a:effectLst/>
                <a:uFillTx/>
                <a:latin typeface="Times New Roman"/>
              </a:rPr>
              <a:t>&lt;нижний колонтитул&gt;</a:t>
            </a:r>
            <a:endParaRPr lang="ru-RU"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860FFE6-5AC8-4117-8993-5F949242BDDE}" type="slidenum">
              <a:rPr lang="en-US" sz="1200" b="0" u="none" strike="noStrike">
                <a:solidFill>
                  <a:schemeClr val="dk1">
                    <a:tint val="75000"/>
                  </a:schemeClr>
                </a:solidFill>
                <a:effectLst/>
                <a:uFillTx/>
                <a:latin typeface="Calibri"/>
              </a:rPr>
              <a:t>&lt;номер&gt;</a:t>
            </a:fld>
            <a:endParaRPr lang="ru-RU"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&lt;дата/время&gt;</a:t>
            </a:r>
            <a:endParaRPr lang="ru-RU"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ru-RU" sz="1400" b="0" u="none" strike="noStrike">
                <a:solidFill>
                  <a:srgbClr val="000000"/>
                </a:solidFill>
                <a:effectLst/>
                <a:uFillTx/>
                <a:latin typeface="Times New Roman"/>
              </a:defRPr>
            </a:lvl1pPr>
          </a:lstStyle>
          <a:p>
            <a:pPr indent="0" algn="ctr">
              <a:buNone/>
            </a:pPr>
            <a:r>
              <a:rPr lang="ru-RU" sz="1400" b="0" u="none" strike="noStrike">
                <a:solidFill>
                  <a:srgbClr val="000000"/>
                </a:solidFill>
                <a:effectLst/>
                <a:uFillTx/>
                <a:latin typeface="Times New Roman"/>
              </a:rPr>
              <a:t>&lt;нижний колонтитул&gt;</a:t>
            </a:r>
            <a:endParaRPr lang="ru-RU"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EBA8608-7DF4-42E6-9401-FD67CA27E4D7}" type="slidenum">
              <a:rPr lang="en-US" sz="1200" b="0" u="none" strike="noStrike">
                <a:solidFill>
                  <a:schemeClr val="dk1">
                    <a:tint val="75000"/>
                  </a:schemeClr>
                </a:solidFill>
                <a:effectLst/>
                <a:uFillTx/>
                <a:latin typeface="Calibri"/>
              </a:rPr>
              <a:t>&lt;номер&gt;</a:t>
            </a:fld>
            <a:endParaRPr lang="ru-RU"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&lt;дата/время&gt;</a:t>
            </a:r>
            <a:endParaRPr lang="ru-RU"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ru-RU" sz="1400" b="0" u="none" strike="noStrike">
                <a:solidFill>
                  <a:srgbClr val="000000"/>
                </a:solidFill>
                <a:effectLst/>
                <a:uFillTx/>
                <a:latin typeface="Times New Roman"/>
              </a:defRPr>
            </a:lvl1pPr>
          </a:lstStyle>
          <a:p>
            <a:pPr indent="0" algn="ctr">
              <a:buNone/>
            </a:pPr>
            <a:r>
              <a:rPr lang="ru-RU" sz="1400" b="0" u="none" strike="noStrike">
                <a:solidFill>
                  <a:srgbClr val="000000"/>
                </a:solidFill>
                <a:effectLst/>
                <a:uFillTx/>
                <a:latin typeface="Times New Roman"/>
              </a:rPr>
              <a:t>&lt;нижний колонтитул&gt;</a:t>
            </a:r>
            <a:endParaRPr lang="ru-RU"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CFF6225-0A95-475B-8158-60564904C0B6}" type="slidenum">
              <a:rPr lang="en-US" sz="1200" b="0" u="none" strike="noStrike">
                <a:solidFill>
                  <a:schemeClr val="dk1">
                    <a:tint val="75000"/>
                  </a:schemeClr>
                </a:solidFill>
                <a:effectLst/>
                <a:uFillTx/>
                <a:latin typeface="Calibri"/>
              </a:rPr>
              <a:t>&lt;номер&gt;</a:t>
            </a:fld>
            <a:endParaRPr lang="ru-RU" sz="1200" b="0" u="none" strike="noStrike">
              <a:solidFill>
                <a:srgbClr val="000000"/>
              </a:solidFill>
              <a:effectLst/>
              <a:uFillTx/>
              <a:latin typeface="Times New Roman"/>
            </a:endParaRPr>
          </a:p>
        </p:txBody>
      </p:sp>
      <p:sp>
        <p:nvSpPr>
          <p:cNvPr id="47" name="PlaceHolder 4"/>
          <p:cNvSpPr>
            <a:spLocks noGrp="1"/>
          </p:cNvSpPr>
          <p:nvPr>
            <p:ph type="title"/>
          </p:nvPr>
        </p:nvSpPr>
        <p:spPr>
          <a:xfrm>
            <a:off x="378000" y="426600"/>
            <a:ext cx="6803640" cy="178488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Для правки текста заглавия щёлкните мышью</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378000" y="2501640"/>
            <a:ext cx="6803640" cy="620100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Для правки структуры щёлкните мышью</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Второй уровень структуры</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Третий уровень структуры</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Четвёртый уровень структуры</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Пятый уровень структуры</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Шестой уровень структуры</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Седьмой уровень структуры</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&lt;дата/время&gt;</a:t>
            </a:r>
            <a:endParaRPr lang="ru-RU"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ru-RU" sz="1400" b="0" u="none" strike="noStrike">
                <a:solidFill>
                  <a:srgbClr val="000000"/>
                </a:solidFill>
                <a:effectLst/>
                <a:uFillTx/>
                <a:latin typeface="Times New Roman"/>
              </a:defRPr>
            </a:lvl1pPr>
          </a:lstStyle>
          <a:p>
            <a:pPr indent="0" algn="ctr">
              <a:buNone/>
            </a:pPr>
            <a:r>
              <a:rPr lang="ru-RU" sz="1400" b="0" u="none" strike="noStrike">
                <a:solidFill>
                  <a:srgbClr val="000000"/>
                </a:solidFill>
                <a:effectLst/>
                <a:uFillTx/>
                <a:latin typeface="Times New Roman"/>
              </a:rPr>
              <a:t>&lt;нижний колонтитул&gt;</a:t>
            </a:r>
            <a:endParaRPr lang="ru-RU"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01C01AA-ABAF-4A73-9441-AE63ECDA6FED}" type="slidenum">
              <a:rPr lang="en-US" sz="1200" b="0" u="none" strike="noStrike">
                <a:solidFill>
                  <a:schemeClr val="dk1">
                    <a:tint val="75000"/>
                  </a:schemeClr>
                </a:solidFill>
                <a:effectLst/>
                <a:uFillTx/>
                <a:latin typeface="Calibri"/>
              </a:rPr>
              <a:t>&lt;номер&gt;</a:t>
            </a:fld>
            <a:endParaRPr lang="ru-RU"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Для правки структуры щёлкните мышью</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Второй уровень структуры</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Третий уровень структуры</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Четвёртый уровень структуры</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Пятый уровень структуры</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Шестой уровень структуры</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Седьмой уровень структуры</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&lt;дата/время&gt;</a:t>
            </a:r>
            <a:endParaRPr lang="ru-RU"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ru-RU" sz="1400" b="0" u="none" strike="noStrike">
                <a:solidFill>
                  <a:srgbClr val="000000"/>
                </a:solidFill>
                <a:effectLst/>
                <a:uFillTx/>
                <a:latin typeface="Times New Roman"/>
              </a:defRPr>
            </a:lvl1pPr>
          </a:lstStyle>
          <a:p>
            <a:pPr indent="0" algn="ctr">
              <a:buNone/>
            </a:pPr>
            <a:r>
              <a:rPr lang="ru-RU" sz="1400" b="0" u="none" strike="noStrike">
                <a:solidFill>
                  <a:srgbClr val="000000"/>
                </a:solidFill>
                <a:effectLst/>
                <a:uFillTx/>
                <a:latin typeface="Times New Roman"/>
              </a:rPr>
              <a:t>&lt;нижний колонтитул&gt;</a:t>
            </a:r>
            <a:endParaRPr lang="ru-RU"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7169D18-7418-4E86-AA47-794D861821D8}" type="slidenum">
              <a:rPr lang="en-US" sz="1200" b="0" u="none" strike="noStrike">
                <a:solidFill>
                  <a:schemeClr val="dk1">
                    <a:tint val="75000"/>
                  </a:schemeClr>
                </a:solidFill>
                <a:effectLst/>
                <a:uFillTx/>
                <a:latin typeface="Calibri"/>
              </a:rPr>
              <a:t>&lt;номер&gt;</a:t>
            </a:fld>
            <a:endParaRPr lang="ru-RU" sz="1200" b="0" u="none" strike="noStrik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TextBox 1"/>
          <p:cNvSpPr/>
          <p:nvPr/>
        </p:nvSpPr>
        <p:spPr>
          <a:xfrm>
            <a:off x="432000" y="432000"/>
            <a:ext cx="6695640" cy="5036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800" b="1" u="none" strike="noStrike">
                <a:solidFill>
                  <a:srgbClr val="1A1A1A"/>
                </a:solidFill>
                <a:effectLst/>
                <a:uFillTx/>
                <a:latin typeface="Arial"/>
              </a:rPr>
              <a:t>Свет мой зеркальце. Правила игры</a:t>
            </a:r>
            <a:endParaRPr lang="ru-RU" sz="1800" b="0" u="none" strike="noStrike">
              <a:solidFill>
                <a:srgbClr val="000000"/>
              </a:solidFill>
              <a:effectLst/>
              <a:uFillTx/>
              <a:latin typeface="Arial"/>
            </a:endParaRPr>
          </a:p>
        </p:txBody>
      </p:sp>
      <p:sp>
        <p:nvSpPr>
          <p:cNvPr id="62" name="TextBox 2"/>
          <p:cNvSpPr/>
          <p:nvPr/>
        </p:nvSpPr>
        <p:spPr>
          <a:xfrm>
            <a:off x="432000" y="756000"/>
            <a:ext cx="6695640" cy="5785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200" b="0" u="none" strike="noStrike">
                <a:solidFill>
                  <a:srgbClr val="1A1A1A"/>
                </a:solidFill>
                <a:effectLst/>
                <a:uFillTx/>
                <a:latin typeface="Arial"/>
              </a:rPr>
              <a:t>3–6 игроков  ·  от 16 лет  ·  около 30 минут</a:t>
            </a:r>
            <a:endParaRPr lang="ru-RU" sz="1200" b="0" u="none" strike="noStrike">
              <a:solidFill>
                <a:srgbClr val="000000"/>
              </a:solidFill>
              <a:effectLst/>
              <a:uFillTx/>
              <a:latin typeface="Arial"/>
            </a:endParaRPr>
          </a:p>
          <a:p>
            <a:pPr defTabSz="457200">
              <a:lnSpc>
                <a:spcPct val="100000"/>
              </a:lnSpc>
              <a:spcAft>
                <a:spcPts val="201"/>
              </a:spcAft>
            </a:pPr>
            <a:r>
              <a:rPr lang="en-US" sz="1200" b="0" u="none" strike="noStrike">
                <a:solidFill>
                  <a:srgbClr val="1A1A1A"/>
                </a:solidFill>
                <a:effectLst/>
                <a:uFillTx/>
                <a:latin typeface="Arial"/>
              </a:rPr>
              <a:t>Версия правил 3.8</a:t>
            </a:r>
            <a:endParaRPr lang="ru-RU" sz="1200" b="0" u="none" strike="noStrike">
              <a:solidFill>
                <a:srgbClr val="000000"/>
              </a:solidFill>
              <a:effectLst/>
              <a:uFillTx/>
              <a:latin typeface="Arial"/>
            </a:endParaRPr>
          </a:p>
        </p:txBody>
      </p:sp>
      <p:sp>
        <p:nvSpPr>
          <p:cNvPr id="63" name="TextBox 3"/>
          <p:cNvSpPr/>
          <p:nvPr/>
        </p:nvSpPr>
        <p:spPr>
          <a:xfrm>
            <a:off x="432000" y="1260000"/>
            <a:ext cx="6695640" cy="1031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100" b="0" i="1" u="none" strike="noStrike">
                <a:solidFill>
                  <a:srgbClr val="1A1A1A"/>
                </a:solidFill>
                <a:effectLst/>
                <a:uFillTx/>
                <a:latin typeface="Arial"/>
              </a:rPr>
              <a:t>Вы – гремлины службы поддержки волшебного сервиса «Свет мой зеркальце скажи». Клиенты из почти современного мира задают через зеркало странные вопросы, а вы на лету собираете ответы из карт букв, которые берёте из общей кучи в центре стола. Чем смешнее и точнее реакция зала – тем выше шанс забрать карту запроса себе. Побеждает тот, у кого к концу колоды запросов больше всего таких карт.</a:t>
            </a:r>
            <a:endParaRPr lang="ru-RU" sz="1100" b="0" u="none" strike="noStrike">
              <a:solidFill>
                <a:srgbClr val="000000"/>
              </a:solidFill>
              <a:effectLst/>
              <a:uFillTx/>
              <a:latin typeface="Arial"/>
            </a:endParaRPr>
          </a:p>
          <a:p>
            <a:pPr defTabSz="457200">
              <a:lnSpc>
                <a:spcPct val="100000"/>
              </a:lnSpc>
              <a:spcAft>
                <a:spcPts val="201"/>
              </a:spcAft>
            </a:pPr>
            <a:r>
              <a:rPr lang="en-US" sz="1100" b="0" i="1" u="none" strike="noStrike">
                <a:solidFill>
                  <a:srgbClr val="1A1A1A"/>
                </a:solidFill>
                <a:effectLst/>
                <a:uFillTx/>
                <a:latin typeface="Arial"/>
              </a:rPr>
              <a:t>Сложи слово ВЕЧНОСТЬ из трёх букв!</a:t>
            </a:r>
            <a:endParaRPr lang="ru-RU" sz="1100" b="0" u="none" strike="noStrike">
              <a:solidFill>
                <a:srgbClr val="000000"/>
              </a:solidFill>
              <a:effectLst/>
              <a:uFillTx/>
              <a:latin typeface="Arial"/>
            </a:endParaRPr>
          </a:p>
        </p:txBody>
      </p:sp>
      <p:sp>
        <p:nvSpPr>
          <p:cNvPr id="64" name="TextBox 4"/>
          <p:cNvSpPr/>
          <p:nvPr/>
        </p:nvSpPr>
        <p:spPr>
          <a:xfrm>
            <a:off x="432000" y="2401200"/>
            <a:ext cx="6695640" cy="2876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2E5A88"/>
                </a:solidFill>
                <a:effectLst/>
                <a:uFillTx/>
                <a:latin typeface="Arial"/>
              </a:rPr>
              <a:t>КОМПЛЕКТАЦИЯ</a:t>
            </a:r>
            <a:endParaRPr lang="ru-RU" sz="1200" b="0" u="none" strike="noStrike">
              <a:solidFill>
                <a:srgbClr val="000000"/>
              </a:solidFill>
              <a:effectLst/>
              <a:uFillTx/>
              <a:latin typeface="Arial"/>
            </a:endParaRPr>
          </a:p>
        </p:txBody>
      </p:sp>
      <p:pic>
        <p:nvPicPr>
          <p:cNvPr id="65" name="Picture 5" descr="card-request-duplex.png"/>
          <p:cNvPicPr/>
          <p:nvPr/>
        </p:nvPicPr>
        <p:blipFill>
          <a:blip r:embed="rId1"/>
          <a:stretch/>
        </p:blipFill>
        <p:spPr>
          <a:xfrm>
            <a:off x="489600" y="2700000"/>
            <a:ext cx="2761200" cy="881640"/>
          </a:xfrm>
          <a:prstGeom prst="rect">
            <a:avLst/>
          </a:prstGeom>
          <a:noFill/>
          <a:ln w="0">
            <a:noFill/>
          </a:ln>
        </p:spPr>
      </p:pic>
      <p:sp>
        <p:nvSpPr>
          <p:cNvPr id="66" name="TextBox 6"/>
          <p:cNvSpPr/>
          <p:nvPr/>
        </p:nvSpPr>
        <p:spPr>
          <a:xfrm>
            <a:off x="669600" y="3596400"/>
            <a:ext cx="2267280" cy="2437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00" b="0" u="none" strike="noStrike">
                <a:solidFill>
                  <a:srgbClr val="555555"/>
                </a:solidFill>
                <a:effectLst/>
                <a:uFillTx/>
                <a:latin typeface="Arial"/>
              </a:rPr>
              <a:t>карты запросов – 14 шт. </a:t>
            </a:r>
            <a:br>
              <a:rPr sz="800"/>
            </a:br>
            <a:r>
              <a:rPr lang="en-US" sz="800" b="0" u="none" strike="noStrike">
                <a:solidFill>
                  <a:srgbClr val="555555"/>
                </a:solidFill>
                <a:effectLst/>
                <a:uFillTx/>
                <a:latin typeface="Arial"/>
              </a:rPr>
              <a:t>(лицевая сторона и рубашка)</a:t>
            </a:r>
            <a:endParaRPr lang="ru-RU" sz="800" b="0" u="none" strike="noStrike">
              <a:solidFill>
                <a:srgbClr val="000000"/>
              </a:solidFill>
              <a:effectLst/>
              <a:uFillTx/>
              <a:latin typeface="Arial"/>
            </a:endParaRPr>
          </a:p>
        </p:txBody>
      </p:sp>
      <p:pic>
        <p:nvPicPr>
          <p:cNvPr id="67" name="Picture 7" descr="card-letter-duplex.png"/>
          <p:cNvPicPr/>
          <p:nvPr/>
        </p:nvPicPr>
        <p:blipFill>
          <a:blip r:embed="rId2"/>
          <a:stretch/>
        </p:blipFill>
        <p:spPr>
          <a:xfrm>
            <a:off x="3369240" y="2423160"/>
            <a:ext cx="2267280" cy="1158480"/>
          </a:xfrm>
          <a:prstGeom prst="rect">
            <a:avLst/>
          </a:prstGeom>
          <a:noFill/>
          <a:ln w="0">
            <a:noFill/>
          </a:ln>
        </p:spPr>
      </p:pic>
      <p:sp>
        <p:nvSpPr>
          <p:cNvPr id="68" name="TextBox 8"/>
          <p:cNvSpPr/>
          <p:nvPr/>
        </p:nvSpPr>
        <p:spPr>
          <a:xfrm>
            <a:off x="3405240" y="3632400"/>
            <a:ext cx="2267280" cy="1220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00" b="0" u="none" strike="noStrike">
                <a:solidFill>
                  <a:srgbClr val="555555"/>
                </a:solidFill>
                <a:effectLst/>
                <a:uFillTx/>
                <a:latin typeface="Arial"/>
              </a:rPr>
              <a:t>карты букв – 72 шт. (рубашка – джокер)</a:t>
            </a:r>
            <a:endParaRPr lang="ru-RU" sz="800" b="0" u="none" strike="noStrike">
              <a:solidFill>
                <a:srgbClr val="000000"/>
              </a:solidFill>
              <a:effectLst/>
              <a:uFillTx/>
              <a:latin typeface="Arial"/>
            </a:endParaRPr>
          </a:p>
        </p:txBody>
      </p:sp>
      <p:pic>
        <p:nvPicPr>
          <p:cNvPr id="69" name="Picture 9" descr="card-vote-stack.png"/>
          <p:cNvPicPr/>
          <p:nvPr/>
        </p:nvPicPr>
        <p:blipFill>
          <a:blip r:embed="rId3"/>
          <a:stretch/>
        </p:blipFill>
        <p:spPr>
          <a:xfrm>
            <a:off x="5709960" y="2521440"/>
            <a:ext cx="1382040" cy="989280"/>
          </a:xfrm>
          <a:prstGeom prst="rect">
            <a:avLst/>
          </a:prstGeom>
          <a:noFill/>
          <a:ln w="0">
            <a:noFill/>
          </a:ln>
        </p:spPr>
      </p:pic>
      <p:sp>
        <p:nvSpPr>
          <p:cNvPr id="70" name="TextBox 10"/>
          <p:cNvSpPr/>
          <p:nvPr/>
        </p:nvSpPr>
        <p:spPr>
          <a:xfrm>
            <a:off x="5493240" y="3596400"/>
            <a:ext cx="1900800" cy="2437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00" b="0" u="none" strike="noStrike">
                <a:solidFill>
                  <a:srgbClr val="555555"/>
                </a:solidFill>
                <a:effectLst/>
                <a:uFillTx/>
                <a:latin typeface="Arial"/>
              </a:rPr>
              <a:t>карты «Ты восхитителен» – </a:t>
            </a:r>
            <a:br>
              <a:rPr sz="800"/>
            </a:br>
            <a:r>
              <a:rPr lang="en-US" sz="800" b="0" u="none" strike="noStrike">
                <a:solidFill>
                  <a:srgbClr val="555555"/>
                </a:solidFill>
                <a:effectLst/>
                <a:uFillTx/>
                <a:latin typeface="Arial"/>
              </a:rPr>
              <a:t>6 шт. (по 1 каждого цвета)</a:t>
            </a:r>
            <a:endParaRPr lang="ru-RU" sz="800" b="0" u="none" strike="noStrike">
              <a:solidFill>
                <a:srgbClr val="000000"/>
              </a:solidFill>
              <a:effectLst/>
              <a:uFillTx/>
              <a:latin typeface="Arial"/>
            </a:endParaRPr>
          </a:p>
        </p:txBody>
      </p:sp>
      <p:sp>
        <p:nvSpPr>
          <p:cNvPr id="71" name="TextBox 12"/>
          <p:cNvSpPr/>
          <p:nvPr/>
        </p:nvSpPr>
        <p:spPr>
          <a:xfrm>
            <a:off x="432000" y="4057200"/>
            <a:ext cx="6695640" cy="2876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2E5A88"/>
                </a:solidFill>
                <a:effectLst/>
                <a:uFillTx/>
                <a:latin typeface="Arial"/>
              </a:rPr>
              <a:t>ПОДГОТОВКА К ИГРЕ</a:t>
            </a:r>
            <a:endParaRPr lang="ru-RU" sz="1200" b="0" u="none" strike="noStrike">
              <a:solidFill>
                <a:srgbClr val="000000"/>
              </a:solidFill>
              <a:effectLst/>
              <a:uFillTx/>
              <a:latin typeface="Arial"/>
            </a:endParaRPr>
          </a:p>
        </p:txBody>
      </p:sp>
      <p:sp>
        <p:nvSpPr>
          <p:cNvPr id="72" name="TextBox 13"/>
          <p:cNvSpPr/>
          <p:nvPr/>
        </p:nvSpPr>
        <p:spPr>
          <a:xfrm>
            <a:off x="432000" y="4344840"/>
            <a:ext cx="2628000" cy="20638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100" b="0" u="none" strike="noStrike">
                <a:solidFill>
                  <a:srgbClr val="1A1A1A"/>
                </a:solidFill>
                <a:effectLst/>
                <a:uFillTx/>
                <a:latin typeface="Arial"/>
              </a:rPr>
              <a:t>1. Перемешайте колоду карт запросов и положите её рубашками вверх. Откройте верхнюю карту в колоде и положите её лицом вверх над колодой.</a:t>
            </a:r>
            <a:endParaRPr lang="ru-RU" sz="1100" b="0" u="none" strike="noStrike">
              <a:solidFill>
                <a:srgbClr val="000000"/>
              </a:solidFill>
              <a:effectLst/>
              <a:uFillTx/>
              <a:latin typeface="Arial"/>
            </a:endParaRPr>
          </a:p>
          <a:p>
            <a:pPr defTabSz="457200">
              <a:lnSpc>
                <a:spcPct val="100000"/>
              </a:lnSpc>
              <a:spcAft>
                <a:spcPts val="201"/>
              </a:spcAft>
            </a:pPr>
            <a:r>
              <a:rPr lang="en-US" sz="1100" b="0" u="none" strike="noStrike">
                <a:solidFill>
                  <a:srgbClr val="1A1A1A"/>
                </a:solidFill>
                <a:effectLst/>
                <a:uFillTx/>
                <a:latin typeface="Arial"/>
              </a:rPr>
              <a:t>2. Каждый игрок выбирает цвет и берёт карту «Ты восхитителен» своего цвета. Лишние карты «Ты восхитителен» уберите в коробку.</a:t>
            </a:r>
            <a:endParaRPr lang="ru-RU" sz="1100" b="0" u="none" strike="noStrike">
              <a:solidFill>
                <a:srgbClr val="000000"/>
              </a:solidFill>
              <a:effectLst/>
              <a:uFillTx/>
              <a:latin typeface="Arial"/>
            </a:endParaRPr>
          </a:p>
          <a:p>
            <a:pPr defTabSz="457200">
              <a:lnSpc>
                <a:spcPct val="100000"/>
              </a:lnSpc>
              <a:spcAft>
                <a:spcPts val="201"/>
              </a:spcAft>
            </a:pPr>
            <a:r>
              <a:rPr lang="en-US" sz="1100" b="0" u="none" strike="noStrike">
                <a:solidFill>
                  <a:srgbClr val="1A1A1A"/>
                </a:solidFill>
                <a:effectLst/>
                <a:uFillTx/>
                <a:latin typeface="Arial"/>
              </a:rPr>
              <a:t>3. Все карты букв раскиньте в случайном порядке лицом вверх в центре стола. Руки игроков в начале раунда пустые.</a:t>
            </a:r>
            <a:endParaRPr lang="ru-RU" sz="1100" b="0" u="none" strike="noStrike">
              <a:solidFill>
                <a:srgbClr val="000000"/>
              </a:solidFill>
              <a:effectLst/>
              <a:uFillTx/>
              <a:latin typeface="Arial"/>
            </a:endParaRPr>
          </a:p>
        </p:txBody>
      </p:sp>
      <p:pic>
        <p:nvPicPr>
          <p:cNvPr id="73" name="Picture 14" descr="setup-table.png"/>
          <p:cNvPicPr/>
          <p:nvPr/>
        </p:nvPicPr>
        <p:blipFill>
          <a:blip r:embed="rId4"/>
          <a:stretch/>
        </p:blipFill>
        <p:spPr>
          <a:xfrm>
            <a:off x="3600000" y="4344840"/>
            <a:ext cx="3448080" cy="2241000"/>
          </a:xfrm>
          <a:prstGeom prst="rect">
            <a:avLst/>
          </a:prstGeom>
          <a:noFill/>
          <a:ln w="0">
            <a:noFill/>
          </a:ln>
        </p:spPr>
      </p:pic>
      <p:sp>
        <p:nvSpPr>
          <p:cNvPr id="74" name="TextBox 26"/>
          <p:cNvSpPr/>
          <p:nvPr/>
        </p:nvSpPr>
        <p:spPr>
          <a:xfrm>
            <a:off x="432360" y="6516360"/>
            <a:ext cx="6695640" cy="183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2E5A88"/>
                </a:solidFill>
                <a:effectLst/>
                <a:uFillTx/>
                <a:latin typeface="Arial"/>
              </a:rPr>
              <a:t>ЦЕЛЬ ИГРЫ</a:t>
            </a:r>
            <a:endParaRPr lang="ru-RU" sz="1200" b="0" u="none" strike="noStrike">
              <a:solidFill>
                <a:srgbClr val="000000"/>
              </a:solidFill>
              <a:effectLst/>
              <a:uFillTx/>
              <a:latin typeface="Arial"/>
            </a:endParaRPr>
          </a:p>
        </p:txBody>
      </p:sp>
      <p:sp>
        <p:nvSpPr>
          <p:cNvPr id="75" name="TextBox 27"/>
          <p:cNvSpPr/>
          <p:nvPr/>
        </p:nvSpPr>
        <p:spPr>
          <a:xfrm>
            <a:off x="432360" y="6804360"/>
            <a:ext cx="6695640" cy="1681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100" b="0" u="none" strike="noStrike">
                <a:solidFill>
                  <a:srgbClr val="1A1A1A"/>
                </a:solidFill>
                <a:effectLst/>
                <a:uFillTx/>
                <a:latin typeface="Arial"/>
              </a:rPr>
              <a:t>Составлять как можно более смешные ответы на запросы.</a:t>
            </a:r>
            <a:endParaRPr lang="ru-RU" sz="1100" b="0" u="none" strike="noStrike">
              <a:solidFill>
                <a:srgbClr val="000000"/>
              </a:solidFill>
              <a:effectLst/>
              <a:uFillTx/>
              <a:latin typeface="Arial"/>
            </a:endParaRPr>
          </a:p>
        </p:txBody>
      </p:sp>
      <p:sp>
        <p:nvSpPr>
          <p:cNvPr id="76" name="TextBox 7"/>
          <p:cNvSpPr/>
          <p:nvPr/>
        </p:nvSpPr>
        <p:spPr>
          <a:xfrm>
            <a:off x="455760" y="7164000"/>
            <a:ext cx="6695640" cy="183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2E5A88"/>
                </a:solidFill>
                <a:effectLst/>
                <a:uFillTx/>
                <a:latin typeface="Arial"/>
              </a:rPr>
              <a:t>ХОД ИГРЫ</a:t>
            </a:r>
            <a:endParaRPr lang="ru-RU" sz="1200" b="0" u="none" strike="noStrike">
              <a:solidFill>
                <a:srgbClr val="000000"/>
              </a:solidFill>
              <a:effectLst/>
              <a:uFillTx/>
              <a:latin typeface="Arial"/>
            </a:endParaRPr>
          </a:p>
        </p:txBody>
      </p:sp>
      <p:sp>
        <p:nvSpPr>
          <p:cNvPr id="77" name="TextBox 28"/>
          <p:cNvSpPr/>
          <p:nvPr/>
        </p:nvSpPr>
        <p:spPr>
          <a:xfrm>
            <a:off x="600120" y="7451640"/>
            <a:ext cx="6695640" cy="1681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100" b="0" u="none" strike="noStrike">
                <a:solidFill>
                  <a:srgbClr val="1A1A1A"/>
                </a:solidFill>
                <a:effectLst/>
                <a:uFillTx/>
                <a:latin typeface="Arial"/>
              </a:rPr>
              <a:t>Игра разбита на раунды. Все действия в раунде выполняются одновременно.</a:t>
            </a:r>
            <a:endParaRPr lang="ru-RU" sz="1100" b="0" u="none" strike="noStrike">
              <a:solidFill>
                <a:srgbClr val="000000"/>
              </a:solidFill>
              <a:effectLst/>
              <a:uFillTx/>
              <a:latin typeface="Arial"/>
            </a:endParaRPr>
          </a:p>
        </p:txBody>
      </p:sp>
      <p:sp>
        <p:nvSpPr>
          <p:cNvPr id="78" name="TextBox 29"/>
          <p:cNvSpPr/>
          <p:nvPr/>
        </p:nvSpPr>
        <p:spPr>
          <a:xfrm>
            <a:off x="455760" y="7704000"/>
            <a:ext cx="6695640" cy="17056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0" u="none" strike="noStrike">
                <a:solidFill>
                  <a:srgbClr val="1A1A1A"/>
                </a:solidFill>
                <a:effectLst/>
                <a:uFillTx/>
                <a:latin typeface="Arial"/>
              </a:rPr>
              <a:t>1. Снимите верхнюю карту колоды запросов, переверните её на лицевую сторону и положите рядом с колодой так, чтобы вместе с новой верхней картой колоды запросов (с её рубашкой) получилось общее зеркало.</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Прочитайте вслух текст на лицевой стороне открытой карты запроса и на рубашке верхней карты запроса.</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Если карты кончились, наступает конец игры.</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2. Игроки одновременно берут карты букв из центра стола одной рукой по одной карте. Второй рукой можно держать взятое, но не копаться в куче.</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Выложите от 1 до 3 карт букв. Лишние карты букв остаются в центре стола.</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Любую карту буквы можно сыграть рубашкой вверх как джокер (любая буква). Замену вслух не называйте.</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3. Голосование – см. ниже.</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4. Все карты букв возвращаются в центр стола, перемешиваются и снова раскидываются лицом вверх.</a:t>
            </a:r>
            <a:endParaRPr lang="ru-RU"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TextBox 14"/>
          <p:cNvSpPr/>
          <p:nvPr/>
        </p:nvSpPr>
        <p:spPr>
          <a:xfrm>
            <a:off x="383760" y="432000"/>
            <a:ext cx="6695640" cy="2876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2E5A88"/>
                </a:solidFill>
                <a:effectLst/>
                <a:uFillTx/>
                <a:latin typeface="Arial"/>
              </a:rPr>
              <a:t>СОСТАВЛЕНИЕ ОТВЕТА</a:t>
            </a:r>
            <a:endParaRPr lang="ru-RU" sz="1200" b="0" u="none" strike="noStrike">
              <a:solidFill>
                <a:srgbClr val="000000"/>
              </a:solidFill>
              <a:effectLst/>
              <a:uFillTx/>
              <a:latin typeface="Arial"/>
            </a:endParaRPr>
          </a:p>
        </p:txBody>
      </p:sp>
      <p:sp>
        <p:nvSpPr>
          <p:cNvPr id="80" name="TextBox 15"/>
          <p:cNvSpPr/>
          <p:nvPr/>
        </p:nvSpPr>
        <p:spPr>
          <a:xfrm>
            <a:off x="2903760" y="719640"/>
            <a:ext cx="4283640" cy="13683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0" u="none" strike="noStrike">
                <a:solidFill>
                  <a:srgbClr val="1A1A1A"/>
                </a:solidFill>
                <a:effectLst/>
                <a:uFillTx/>
                <a:latin typeface="Arial"/>
              </a:rPr>
              <a:t>Ответ – от 1 до 3 карт букв: первые или самые характерные для слова или выражения. Назовите его вслух. Допустимы несуществующие и неполные слова.</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Несыгранные взятые карты букв остаются у игрока до конца раунда.</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Игрок выкладывает свой ответ перед собой на стол, когда готов.</a:t>
            </a:r>
            <a:endParaRPr lang="ru-RU" sz="1000" b="0" u="none" strike="noStrike">
              <a:solidFill>
                <a:srgbClr val="000000"/>
              </a:solidFill>
              <a:effectLst/>
              <a:uFillTx/>
              <a:latin typeface="Arial"/>
            </a:endParaRPr>
          </a:p>
          <a:p>
            <a:pPr defTabSz="457200">
              <a:lnSpc>
                <a:spcPct val="100000"/>
              </a:lnSpc>
              <a:spcAft>
                <a:spcPts val="201"/>
              </a:spcAft>
            </a:pPr>
            <a:endParaRPr lang="ru-RU" sz="1000" b="0" u="none" strike="noStrike">
              <a:solidFill>
                <a:srgbClr val="000000"/>
              </a:solidFill>
              <a:effectLst/>
              <a:uFillTx/>
              <a:latin typeface="Arial"/>
            </a:endParaRPr>
          </a:p>
          <a:p>
            <a:pPr defTabSz="457200">
              <a:lnSpc>
                <a:spcPct val="100000"/>
              </a:lnSpc>
              <a:spcAft>
                <a:spcPts val="201"/>
              </a:spcAft>
            </a:pPr>
            <a:r>
              <a:rPr lang="en-US" sz="1100" b="0" i="1" u="none" strike="noStrike">
                <a:solidFill>
                  <a:srgbClr val="1A1A1A"/>
                </a:solidFill>
                <a:effectLst/>
                <a:uFillTx/>
                <a:latin typeface="Arial"/>
                <a:ea typeface="Microsoft YaHei"/>
              </a:rPr>
              <a:t>Пример: запрос «Чем соблазнить милф». </a:t>
            </a:r>
            <a:r>
              <a:rPr lang="en-US" sz="1100" b="0" i="1" u="none" strike="noStrike">
                <a:solidFill>
                  <a:srgbClr val="1A1A1A"/>
                </a:solidFill>
                <a:effectLst/>
                <a:uFillTx/>
                <a:latin typeface="Arial"/>
              </a:rPr>
              <a:t>Артём выложил Р и Т и назвал «рестик», Настя – В и З «волосатая зопа» (1 голос), Кирилл – Л и П «ловкий палец».</a:t>
            </a:r>
            <a:endParaRPr lang="ru-RU" sz="1100" b="0" u="none" strike="noStrike">
              <a:solidFill>
                <a:srgbClr val="000000"/>
              </a:solidFill>
              <a:effectLst/>
              <a:uFillTx/>
              <a:latin typeface="Arial"/>
            </a:endParaRPr>
          </a:p>
        </p:txBody>
      </p:sp>
      <p:pic>
        <p:nvPicPr>
          <p:cNvPr id="81" name="Picture 16" descr="card-letter-duplex.png"/>
          <p:cNvPicPr/>
          <p:nvPr/>
        </p:nvPicPr>
        <p:blipFill>
          <a:blip r:embed="rId1"/>
          <a:stretch/>
        </p:blipFill>
        <p:spPr>
          <a:xfrm>
            <a:off x="383760" y="792000"/>
            <a:ext cx="2231640" cy="1140120"/>
          </a:xfrm>
          <a:prstGeom prst="rect">
            <a:avLst/>
          </a:prstGeom>
          <a:noFill/>
          <a:ln w="0">
            <a:noFill/>
          </a:ln>
        </p:spPr>
      </p:pic>
      <p:sp>
        <p:nvSpPr>
          <p:cNvPr id="82" name="TextBox 17"/>
          <p:cNvSpPr/>
          <p:nvPr/>
        </p:nvSpPr>
        <p:spPr>
          <a:xfrm>
            <a:off x="492120" y="1944360"/>
            <a:ext cx="2231640" cy="2876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00" b="0" u="none" strike="noStrike">
                <a:solidFill>
                  <a:srgbClr val="555555"/>
                </a:solidFill>
                <a:effectLst/>
                <a:uFillTx/>
                <a:latin typeface="Arial"/>
              </a:rPr>
              <a:t>карты букв: лицо и рубашка-джокер</a:t>
            </a:r>
            <a:endParaRPr lang="ru-RU" sz="800" b="0" u="none" strike="noStrike">
              <a:solidFill>
                <a:srgbClr val="000000"/>
              </a:solidFill>
              <a:effectLst/>
              <a:uFillTx/>
              <a:latin typeface="Arial"/>
            </a:endParaRPr>
          </a:p>
        </p:txBody>
      </p:sp>
      <p:sp>
        <p:nvSpPr>
          <p:cNvPr id="83" name="TextBox 18"/>
          <p:cNvSpPr/>
          <p:nvPr/>
        </p:nvSpPr>
        <p:spPr>
          <a:xfrm>
            <a:off x="455760" y="4527360"/>
            <a:ext cx="6695640" cy="3351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endParaRPr lang="ru-RU" sz="1800" b="0" u="none" strike="noStrike">
              <a:solidFill>
                <a:srgbClr val="000000"/>
              </a:solidFill>
              <a:effectLst/>
              <a:uFillTx/>
              <a:latin typeface="Arial"/>
            </a:endParaRPr>
          </a:p>
        </p:txBody>
      </p:sp>
      <p:sp>
        <p:nvSpPr>
          <p:cNvPr id="84" name="TextBox 20"/>
          <p:cNvSpPr/>
          <p:nvPr/>
        </p:nvSpPr>
        <p:spPr>
          <a:xfrm>
            <a:off x="456120" y="2196360"/>
            <a:ext cx="6695640" cy="183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2E5A88"/>
                </a:solidFill>
                <a:effectLst/>
                <a:uFillTx/>
                <a:latin typeface="Arial"/>
              </a:rPr>
              <a:t>ГОЛОСОВАНИЕ</a:t>
            </a:r>
            <a:endParaRPr lang="ru-RU" sz="1200" b="0" u="none" strike="noStrike">
              <a:solidFill>
                <a:srgbClr val="000000"/>
              </a:solidFill>
              <a:effectLst/>
              <a:uFillTx/>
              <a:latin typeface="Arial"/>
            </a:endParaRPr>
          </a:p>
        </p:txBody>
      </p:sp>
      <p:pic>
        <p:nvPicPr>
          <p:cNvPr id="85" name="Picture 3" descr="card-vote-stack.png"/>
          <p:cNvPicPr/>
          <p:nvPr/>
        </p:nvPicPr>
        <p:blipFill>
          <a:blip r:embed="rId2"/>
          <a:stretch/>
        </p:blipFill>
        <p:spPr>
          <a:xfrm>
            <a:off x="5423760" y="2448000"/>
            <a:ext cx="1727640" cy="1236240"/>
          </a:xfrm>
          <a:prstGeom prst="rect">
            <a:avLst/>
          </a:prstGeom>
          <a:noFill/>
          <a:ln w="0">
            <a:noFill/>
          </a:ln>
        </p:spPr>
      </p:pic>
      <p:sp>
        <p:nvSpPr>
          <p:cNvPr id="86" name="TextBox 9"/>
          <p:cNvSpPr/>
          <p:nvPr/>
        </p:nvSpPr>
        <p:spPr>
          <a:xfrm>
            <a:off x="5423760" y="3695400"/>
            <a:ext cx="1727640" cy="2437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00" b="0" u="none" strike="noStrike">
                <a:solidFill>
                  <a:srgbClr val="555555"/>
                </a:solidFill>
                <a:effectLst/>
                <a:uFillTx/>
                <a:latin typeface="Arial"/>
              </a:rPr>
              <a:t>карты голосования </a:t>
            </a:r>
            <a:br>
              <a:rPr sz="800"/>
            </a:br>
            <a:r>
              <a:rPr lang="en-US" sz="800" b="0" u="none" strike="noStrike">
                <a:solidFill>
                  <a:srgbClr val="555555"/>
                </a:solidFill>
                <a:effectLst/>
                <a:uFillTx/>
                <a:latin typeface="Arial"/>
              </a:rPr>
              <a:t>«Ты восхитителен»</a:t>
            </a:r>
            <a:endParaRPr lang="ru-RU" sz="800" b="0" u="none" strike="noStrike">
              <a:solidFill>
                <a:srgbClr val="000000"/>
              </a:solidFill>
              <a:effectLst/>
              <a:uFillTx/>
              <a:latin typeface="Arial"/>
            </a:endParaRPr>
          </a:p>
        </p:txBody>
      </p:sp>
      <p:sp>
        <p:nvSpPr>
          <p:cNvPr id="87" name="TextBox 21"/>
          <p:cNvSpPr/>
          <p:nvPr/>
        </p:nvSpPr>
        <p:spPr>
          <a:xfrm>
            <a:off x="456120" y="2448000"/>
            <a:ext cx="4787640" cy="16034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0" u="none" strike="noStrike">
                <a:solidFill>
                  <a:srgbClr val="1A1A1A"/>
                </a:solidFill>
                <a:effectLst/>
                <a:uFillTx/>
                <a:latin typeface="Arial"/>
              </a:rPr>
              <a:t>Каждый игрок берёт в руку карту голосования. Когда все определились с выбором, то по команде одновременно кидают на понравившееся слово (если очень хочется – можно в составившего его игрока). Если неясно, к кому упала – кинувший поясняет.</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Себе карту голосования оставлять нельзя: кидайте только к чужому ответу.</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Если игрок не успел кинуть карту голосования вместе с остальными, его карта не учитывается, а каждый другой игрок получает по 2 голоса.</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Победитель раунда – игрок, перед которым оказалось больше всего карт голосования. Он берёт карту запроса, лежащую лицевой стороной вверх, и кладёт её перед собой как победное очко.</a:t>
            </a:r>
            <a:endParaRPr lang="ru-RU" sz="1000" b="0" u="none" strike="noStrike">
              <a:solidFill>
                <a:srgbClr val="000000"/>
              </a:solidFill>
              <a:effectLst/>
              <a:uFillTx/>
              <a:latin typeface="Arial"/>
            </a:endParaRPr>
          </a:p>
        </p:txBody>
      </p:sp>
      <p:sp>
        <p:nvSpPr>
          <p:cNvPr id="88" name=""/>
          <p:cNvSpPr txBox="1"/>
          <p:nvPr/>
        </p:nvSpPr>
        <p:spPr>
          <a:xfrm>
            <a:off x="360000" y="3992760"/>
            <a:ext cx="6827760" cy="1083240"/>
          </a:xfrm>
          <a:prstGeom prst="rect">
            <a:avLst/>
          </a:prstGeom>
          <a:noFill/>
          <a:ln w="0">
            <a:noFill/>
          </a:ln>
        </p:spPr>
        <p:txBody>
          <a:bodyPr lIns="90000" tIns="45000" rIns="90000" bIns="45000" anchor="t">
            <a:spAutoFit/>
          </a:bodyPr>
          <a:p>
            <a:endParaRPr lang="ru-RU" sz="1000" b="0" u="none" strike="noStrike">
              <a:solidFill>
                <a:srgbClr val="000000"/>
              </a:solidFill>
              <a:effectLst/>
              <a:uFillTx/>
              <a:latin typeface="Arial"/>
            </a:endParaRPr>
          </a:p>
          <a:p>
            <a:r>
              <a:rPr lang="en-US" sz="1000" b="0" u="none" strike="noStrike">
                <a:solidFill>
                  <a:srgbClr val="1A1A1A"/>
                </a:solidFill>
                <a:effectLst/>
                <a:uFillTx/>
                <a:latin typeface="Arial"/>
              </a:rPr>
              <a:t>Ничья по голосам. Если лидеров несколько, все они объявляются победителями раунда. Один из них берёт лицевую карту запроса, остальные по очереди (по часовой стрелке от обладателя лицевой карты запроса или по договорённости) берут по одной карте с верха колоды запросов как победные очки. Часть будущих запросов при этом выбывает – так и задумано.</a:t>
            </a:r>
            <a:endParaRPr lang="ru-RU" sz="1000" b="0" u="none" strike="noStrike">
              <a:solidFill>
                <a:srgbClr val="000000"/>
              </a:solidFill>
              <a:effectLst/>
              <a:uFillTx/>
              <a:latin typeface="Arial"/>
            </a:endParaRPr>
          </a:p>
          <a:p>
            <a:r>
              <a:rPr lang="en-US" sz="1000" b="0" u="none" strike="noStrike">
                <a:solidFill>
                  <a:srgbClr val="1A1A1A"/>
                </a:solidFill>
                <a:effectLst/>
                <a:uFillTx/>
                <a:latin typeface="Arial"/>
              </a:rPr>
              <a:t>После определения победителя или победителей верните карты «Ты восхитителен» владельцам в руку – они снова понадобятся в следующем раунде.</a:t>
            </a:r>
            <a:endParaRPr lang="ru-RU" sz="1000" b="0" u="none" strike="noStrike">
              <a:solidFill>
                <a:srgbClr val="000000"/>
              </a:solidFill>
              <a:effectLst/>
              <a:uFillTx/>
              <a:latin typeface="Arial"/>
            </a:endParaRPr>
          </a:p>
        </p:txBody>
      </p:sp>
      <p:sp>
        <p:nvSpPr>
          <p:cNvPr id="89" name="TextBox 5"/>
          <p:cNvSpPr/>
          <p:nvPr/>
        </p:nvSpPr>
        <p:spPr>
          <a:xfrm>
            <a:off x="360360" y="5148360"/>
            <a:ext cx="6695640" cy="183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2E5A88"/>
                </a:solidFill>
                <a:effectLst/>
                <a:uFillTx/>
                <a:latin typeface="Arial"/>
              </a:rPr>
              <a:t>КОНЕЦ ИГРЫ</a:t>
            </a:r>
            <a:endParaRPr lang="ru-RU" sz="1200" b="0" u="none" strike="noStrike">
              <a:solidFill>
                <a:srgbClr val="000000"/>
              </a:solidFill>
              <a:effectLst/>
              <a:uFillTx/>
              <a:latin typeface="Arial"/>
            </a:endParaRPr>
          </a:p>
        </p:txBody>
      </p:sp>
      <p:sp>
        <p:nvSpPr>
          <p:cNvPr id="90" name="TextBox 11"/>
          <p:cNvSpPr/>
          <p:nvPr/>
        </p:nvSpPr>
        <p:spPr>
          <a:xfrm>
            <a:off x="360360" y="5383080"/>
            <a:ext cx="6695640" cy="6969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100" b="0" u="none" strike="noStrike">
                <a:solidFill>
                  <a:srgbClr val="1A1A1A"/>
                </a:solidFill>
                <a:effectLst/>
                <a:uFillTx/>
                <a:latin typeface="Arial"/>
              </a:rPr>
              <a:t>Игра заканчивается, когда колода запросов больше не позволяет начать раунд: карты кончились или осталась одна карта запроса без пары для зеркала. </a:t>
            </a:r>
            <a:endParaRPr lang="ru-RU" sz="1100" b="0" u="none" strike="noStrike">
              <a:solidFill>
                <a:srgbClr val="000000"/>
              </a:solidFill>
              <a:effectLst/>
              <a:uFillTx/>
              <a:latin typeface="Arial"/>
            </a:endParaRPr>
          </a:p>
          <a:p>
            <a:pPr defTabSz="457200">
              <a:lnSpc>
                <a:spcPct val="100000"/>
              </a:lnSpc>
              <a:spcAft>
                <a:spcPts val="201"/>
              </a:spcAft>
            </a:pPr>
            <a:r>
              <a:rPr lang="en-US" sz="1100" b="0" u="none" strike="noStrike">
                <a:solidFill>
                  <a:srgbClr val="1A1A1A"/>
                </a:solidFill>
                <a:effectLst/>
                <a:uFillTx/>
                <a:latin typeface="Arial"/>
              </a:rPr>
              <a:t>Каждый игрок считает карты запросов, лежащие перед ним. Побеждает игрок с наибольшим числом таких карт. При ничьей объявите совместную победу.</a:t>
            </a:r>
            <a:endParaRPr lang="ru-RU" sz="1100" b="0" u="none" strike="noStrike">
              <a:solidFill>
                <a:srgbClr val="000000"/>
              </a:solidFill>
              <a:effectLst/>
              <a:uFillTx/>
              <a:latin typeface="Arial"/>
            </a:endParaRPr>
          </a:p>
        </p:txBody>
      </p:sp>
      <p:sp>
        <p:nvSpPr>
          <p:cNvPr id="91" name="TextBox 16"/>
          <p:cNvSpPr/>
          <p:nvPr/>
        </p:nvSpPr>
        <p:spPr>
          <a:xfrm>
            <a:off x="360360" y="6408000"/>
            <a:ext cx="6695640" cy="183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2E5A88"/>
                </a:solidFill>
                <a:effectLst/>
                <a:uFillTx/>
                <a:latin typeface="Arial"/>
              </a:rPr>
              <a:t>ЧАСТЫЕ ВОПРОСЫ</a:t>
            </a:r>
            <a:endParaRPr lang="ru-RU" sz="1200" b="0" u="none" strike="noStrike">
              <a:solidFill>
                <a:srgbClr val="000000"/>
              </a:solidFill>
              <a:effectLst/>
              <a:uFillTx/>
              <a:latin typeface="Arial"/>
            </a:endParaRPr>
          </a:p>
        </p:txBody>
      </p:sp>
      <p:sp>
        <p:nvSpPr>
          <p:cNvPr id="92" name="TextBox 19"/>
          <p:cNvSpPr/>
          <p:nvPr/>
        </p:nvSpPr>
        <p:spPr>
          <a:xfrm>
            <a:off x="360360" y="6660360"/>
            <a:ext cx="6695640" cy="8395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0" u="none" strike="noStrike">
                <a:solidFill>
                  <a:srgbClr val="1A1A1A"/>
                </a:solidFill>
                <a:effectLst/>
                <a:uFillTx/>
                <a:latin typeface="Arial"/>
              </a:rPr>
              <a:t>? Можно ли кинуть карту голосования себе?  Нет. Только к чужому ответу.</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 Карта голосования упала между двумя игроками – чей это голос?  Кинувший поясняет.</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 Когда переставать брать карты букв?  Когда выложили от 1 до 3 или на столе не осталось подходящих карт.</a:t>
            </a:r>
            <a:endParaRPr lang="ru-RU"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1A1A1A"/>
                </a:solidFill>
                <a:effectLst/>
                <a:uFillTx/>
                <a:latin typeface="Arial"/>
              </a:rPr>
              <a:t>? Сколько джокеров можно сыграть?  Сколько угодно. Но игроки редко голосуют за нечитаемый ответ.</a:t>
            </a:r>
            <a:endParaRPr lang="ru-RU" sz="1000" b="0" u="none" strike="noStrike">
              <a:solidFill>
                <a:srgbClr val="000000"/>
              </a:solidFill>
              <a:effectLst/>
              <a:uFillTx/>
              <a:latin typeface="Arial"/>
            </a:endParaRPr>
          </a:p>
        </p:txBody>
      </p:sp>
      <p:sp>
        <p:nvSpPr>
          <p:cNvPr id="93" name="TextBox 22"/>
          <p:cNvSpPr/>
          <p:nvPr/>
        </p:nvSpPr>
        <p:spPr>
          <a:xfrm>
            <a:off x="360360" y="7560360"/>
            <a:ext cx="6695640" cy="183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2E5A88"/>
                </a:solidFill>
                <a:effectLst/>
                <a:uFillTx/>
                <a:latin typeface="Arial"/>
              </a:rPr>
              <a:t>ПАМЯТКА РАУНДА</a:t>
            </a:r>
            <a:endParaRPr lang="ru-RU" sz="1200" b="0" u="none" strike="noStrike">
              <a:solidFill>
                <a:srgbClr val="000000"/>
              </a:solidFill>
              <a:effectLst/>
              <a:uFillTx/>
              <a:latin typeface="Arial"/>
            </a:endParaRPr>
          </a:p>
        </p:txBody>
      </p:sp>
      <p:sp>
        <p:nvSpPr>
          <p:cNvPr id="94" name="TextBox 23"/>
          <p:cNvSpPr/>
          <p:nvPr/>
        </p:nvSpPr>
        <p:spPr>
          <a:xfrm>
            <a:off x="360360" y="8258040"/>
            <a:ext cx="6695640" cy="1681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100" b="0" u="none" strike="noStrike">
                <a:solidFill>
                  <a:srgbClr val="1A1A1A"/>
                </a:solidFill>
                <a:effectLst/>
                <a:uFillTx/>
                <a:latin typeface="Arial"/>
              </a:rPr>
              <a:t>После раунда все карты букв снова лежат в центре стола лицом вверх.</a:t>
            </a:r>
            <a:endParaRPr lang="ru-RU" sz="1100" b="0" u="none" strike="noStrike">
              <a:solidFill>
                <a:srgbClr val="000000"/>
              </a:solidFill>
              <a:effectLst/>
              <a:uFillTx/>
              <a:latin typeface="Arial"/>
            </a:endParaRPr>
          </a:p>
        </p:txBody>
      </p:sp>
      <p:sp>
        <p:nvSpPr>
          <p:cNvPr id="95" name="TextBox 24"/>
          <p:cNvSpPr/>
          <p:nvPr/>
        </p:nvSpPr>
        <p:spPr>
          <a:xfrm>
            <a:off x="360360" y="8568000"/>
            <a:ext cx="6695640" cy="183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2E5A88"/>
                </a:solidFill>
                <a:effectLst/>
                <a:uFillTx/>
                <a:latin typeface="Arial"/>
              </a:rPr>
              <a:t>КОНТАКТЫ</a:t>
            </a:r>
            <a:endParaRPr lang="ru-RU" sz="1200" b="0" u="none" strike="noStrike">
              <a:solidFill>
                <a:srgbClr val="000000"/>
              </a:solidFill>
              <a:effectLst/>
              <a:uFillTx/>
              <a:latin typeface="Arial"/>
            </a:endParaRPr>
          </a:p>
        </p:txBody>
      </p:sp>
      <p:sp>
        <p:nvSpPr>
          <p:cNvPr id="96" name="TextBox 25"/>
          <p:cNvSpPr/>
          <p:nvPr/>
        </p:nvSpPr>
        <p:spPr>
          <a:xfrm>
            <a:off x="360360" y="8856000"/>
            <a:ext cx="6695640" cy="3049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0" u="none" strike="noStrike">
                <a:solidFill>
                  <a:srgbClr val="1A1A1A"/>
                </a:solidFill>
                <a:effectLst/>
                <a:uFillTx/>
                <a:latin typeface="Arial"/>
              </a:rPr>
              <a:t>Контакты автора: t.me/tanion, vk.ru/tanion, yury@nxt.ru, +79213189331 (не стесняйтесь звонить / писать при возникновении вопросов)</a:t>
            </a:r>
            <a:endParaRPr lang="ru-RU" sz="1000" b="0" u="none" strike="noStrike">
              <a:solidFill>
                <a:srgbClr val="000000"/>
              </a:solidFill>
              <a:effectLst/>
              <a:uFillTx/>
              <a:latin typeface="Arial"/>
            </a:endParaRPr>
          </a:p>
        </p:txBody>
      </p:sp>
      <p:sp>
        <p:nvSpPr>
          <p:cNvPr id="97" name="Rounded Rectangle 9"/>
          <p:cNvSpPr/>
          <p:nvPr/>
        </p:nvSpPr>
        <p:spPr>
          <a:xfrm>
            <a:off x="360360" y="7848000"/>
            <a:ext cx="1565640" cy="306720"/>
          </a:xfrm>
          <a:prstGeom prst="roundRect">
            <a:avLst>
              <a:gd name="adj" fmla="val 16667"/>
            </a:avLst>
          </a:prstGeom>
          <a:solidFill>
            <a:srgbClr val="EEF2F7"/>
          </a:solidFill>
          <a:ln>
            <a:solidFill>
              <a:srgbClr val="9090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900" b="1" u="none" strike="noStrike">
                <a:solidFill>
                  <a:srgbClr val="1A1A1A"/>
                </a:solidFill>
                <a:effectLst/>
                <a:uFillTx/>
                <a:latin typeface="Arial"/>
              </a:rPr>
              <a:t>1. Открытие запроса</a:t>
            </a:r>
            <a:endParaRPr lang="ru-RU" sz="900" b="0" u="none" strike="noStrike">
              <a:solidFill>
                <a:srgbClr val="000000"/>
              </a:solidFill>
              <a:effectLst/>
              <a:uFillTx/>
              <a:latin typeface="Arial"/>
            </a:endParaRPr>
          </a:p>
        </p:txBody>
      </p:sp>
      <p:sp>
        <p:nvSpPr>
          <p:cNvPr id="98" name="Rounded Rectangle 10"/>
          <p:cNvSpPr/>
          <p:nvPr/>
        </p:nvSpPr>
        <p:spPr>
          <a:xfrm>
            <a:off x="2070360" y="7848000"/>
            <a:ext cx="1565640" cy="306720"/>
          </a:xfrm>
          <a:prstGeom prst="roundRect">
            <a:avLst>
              <a:gd name="adj" fmla="val 16667"/>
            </a:avLst>
          </a:prstGeom>
          <a:solidFill>
            <a:srgbClr val="EEF2F7"/>
          </a:solidFill>
          <a:ln>
            <a:solidFill>
              <a:srgbClr val="9090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900" b="1" u="none" strike="noStrike">
                <a:solidFill>
                  <a:srgbClr val="1A1A1A"/>
                </a:solidFill>
                <a:effectLst/>
                <a:uFillTx/>
                <a:latin typeface="Arial"/>
              </a:rPr>
              <a:t>2. Составление ответа</a:t>
            </a:r>
            <a:endParaRPr lang="ru-RU" sz="900" b="0" u="none" strike="noStrike">
              <a:solidFill>
                <a:srgbClr val="000000"/>
              </a:solidFill>
              <a:effectLst/>
              <a:uFillTx/>
              <a:latin typeface="Arial"/>
            </a:endParaRPr>
          </a:p>
        </p:txBody>
      </p:sp>
      <p:sp>
        <p:nvSpPr>
          <p:cNvPr id="99" name="Rounded Rectangle 11"/>
          <p:cNvSpPr/>
          <p:nvPr/>
        </p:nvSpPr>
        <p:spPr>
          <a:xfrm>
            <a:off x="3780360" y="7848000"/>
            <a:ext cx="1565640" cy="306720"/>
          </a:xfrm>
          <a:prstGeom prst="roundRect">
            <a:avLst>
              <a:gd name="adj" fmla="val 16667"/>
            </a:avLst>
          </a:prstGeom>
          <a:solidFill>
            <a:srgbClr val="EEF2F7"/>
          </a:solidFill>
          <a:ln>
            <a:solidFill>
              <a:srgbClr val="9090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900" b="1" u="none" strike="noStrike">
                <a:solidFill>
                  <a:srgbClr val="1A1A1A"/>
                </a:solidFill>
                <a:effectLst/>
                <a:uFillTx/>
                <a:latin typeface="Arial"/>
              </a:rPr>
              <a:t>3. Голосование</a:t>
            </a:r>
            <a:endParaRPr lang="ru-RU" sz="900" b="0" u="none" strike="noStrike">
              <a:solidFill>
                <a:srgbClr val="000000"/>
              </a:solidFill>
              <a:effectLst/>
              <a:uFillTx/>
              <a:latin typeface="Arial"/>
            </a:endParaRPr>
          </a:p>
        </p:txBody>
      </p:sp>
      <p:sp>
        <p:nvSpPr>
          <p:cNvPr id="100" name="Rounded Rectangle 12"/>
          <p:cNvSpPr/>
          <p:nvPr/>
        </p:nvSpPr>
        <p:spPr>
          <a:xfrm>
            <a:off x="5490360" y="7848000"/>
            <a:ext cx="1565640" cy="306720"/>
          </a:xfrm>
          <a:prstGeom prst="roundRect">
            <a:avLst>
              <a:gd name="adj" fmla="val 16667"/>
            </a:avLst>
          </a:prstGeom>
          <a:solidFill>
            <a:srgbClr val="EEF2F7"/>
          </a:solidFill>
          <a:ln>
            <a:solidFill>
              <a:srgbClr val="9090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900" b="1" u="none" strike="noStrike">
                <a:solidFill>
                  <a:srgbClr val="1A1A1A"/>
                </a:solidFill>
                <a:effectLst/>
                <a:uFillTx/>
                <a:latin typeface="Arial"/>
              </a:rPr>
              <a:t>4. Возврат букв</a:t>
            </a:r>
            <a:endParaRPr lang="ru-RU"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LibreOffice/26.2.5.2$Windows_X86_64 LibreOffice_project/cd7284b4cbbfeb507e630c1aac019f4157393acb</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ru-RU</dc:language>
  <cp:lastModifiedBy/>
  <dcterms:modified xsi:type="dcterms:W3CDTF">2026-08-31T16:39:52Z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